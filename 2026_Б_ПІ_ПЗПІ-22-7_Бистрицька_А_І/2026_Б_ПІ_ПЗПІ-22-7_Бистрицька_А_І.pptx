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61" r:id="rId9"/>
    <p:sldId id="272" r:id="rId10"/>
    <p:sldId id="281" r:id="rId11"/>
    <p:sldId id="273" r:id="rId12"/>
    <p:sldId id="263" r:id="rId13"/>
    <p:sldId id="274" r:id="rId14"/>
    <p:sldId id="282" r:id="rId15"/>
    <p:sldId id="283" r:id="rId16"/>
    <p:sldId id="284" r:id="rId17"/>
    <p:sldId id="285" r:id="rId18"/>
    <p:sldId id="286" r:id="rId19"/>
    <p:sldId id="287" r:id="rId20"/>
    <p:sldId id="267" r:id="rId21"/>
    <p:sldId id="278" r:id="rId22"/>
    <p:sldId id="279" r:id="rId23"/>
    <p:sldId id="280" r:id="rId24"/>
  </p:sldIdLst>
  <p:sldSz cx="9144000" cy="5143500" type="screen16x9"/>
  <p:notesSz cx="6858000" cy="9144000"/>
  <p:embeddedFontLst>
    <p:embeddedFont>
      <p:font typeface="Economica" panose="020B0604020202020204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19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28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4950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91AEDB7C-42EF-B58D-B7FB-8F8CEBFE9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A1E9EDC9-D9A9-A810-3E78-674BD542E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0486EE1B-94E9-401D-B86B-FAC4482A22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4261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16CDAA3B-EE17-0DDA-B9E2-1628C249A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2ED2E018-7EE6-412E-53D5-368875AB67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EE986B15-62AD-A8C9-2F36-E2B43626C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6901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944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1220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6E8A787-85F2-16AC-832F-EBFA93CF6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9EF3D7FF-AD51-5D3B-79AF-6BE58CD88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8A4F40E7-A01B-1801-2CB2-AA3F0D28FD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518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B66BF8D7-636B-61E2-10D8-CD32116D9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11AC9203-028D-0063-342C-097F8AF23F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2FC2E218-D066-338E-EE93-6DE11428C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7825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341D071-7D1B-AFC7-59AA-BE327F15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D3A592C4-6431-3C49-4E8B-B87E032550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D3E92AFE-0366-266E-F534-4F43772B1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6438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96BB18A-A399-70BC-D09C-487AFDD6D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D7039654-FD52-3726-84E3-402B0D45D4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B9B80345-9AAD-4A65-F16D-D415E4BC31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7739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7BDF187-AA36-653D-CD84-A7CF13F2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E81B116E-7788-EEB4-0484-4BC4A2121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9DA7B9B9-E3E6-148D-890D-029425FEF5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8651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90B0AF37-A607-A586-FAE2-8611B94F2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1E70DB07-69DE-C63A-3261-B4D19E19C7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1972685F-F67C-D6B7-237B-1D26525F0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78087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4663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67849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9263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okado.website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83344" y="788504"/>
            <a:ext cx="3281100" cy="11186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dirty="0"/>
              <a:t>Веб-додаток для пошуку друзів. </a:t>
            </a:r>
            <a:r>
              <a:rPr lang="en-US" sz="2400" dirty="0"/>
              <a:t>Front - end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479184" y="1512372"/>
            <a:ext cx="3889420" cy="13811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600" dirty="0"/>
              <a:t>Бистрицька Анастасія Іллівна, ПЗПІ-22-7</a:t>
            </a:r>
            <a:endParaRPr sz="9600" dirty="0"/>
          </a:p>
          <a:p>
            <a:pPr marL="0" lvl="0" indent="0" algn="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600" dirty="0"/>
              <a:t>Керівник:</a:t>
            </a:r>
          </a:p>
          <a:p>
            <a:pPr marL="0" lvl="0" indent="0" algn="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dirty="0"/>
              <a:t>Д</a:t>
            </a:r>
            <a:r>
              <a:rPr lang="uk" sz="9600" dirty="0"/>
              <a:t>оц.каф.ПІ</a:t>
            </a:r>
          </a:p>
          <a:p>
            <a:pPr marL="0" lvl="0" indent="0" algn="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600" dirty="0"/>
              <a:t>Кравець Наталя Сергіївна</a:t>
            </a:r>
            <a:endParaRPr sz="9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9600" dirty="0"/>
              <a:t>10 липня 2026</a:t>
            </a:r>
            <a:endParaRPr sz="9600"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57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Актуальність та 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14300" indent="0">
              <a:buNone/>
            </a:pPr>
            <a:r>
              <a:rPr lang="uk-UA" dirty="0"/>
              <a:t>Аудиторія соціальних мереж у світі перевищила 5 мільярдів користувачів і продовжує зростати. Попри масштаб ринку, існуючі рішення закривають лише окремі сценарії: </a:t>
            </a:r>
            <a:r>
              <a:rPr lang="uk-UA" dirty="0" err="1"/>
              <a:t>Tinder</a:t>
            </a:r>
            <a:r>
              <a:rPr lang="uk-UA" dirty="0"/>
              <a:t> орієнтований виключно на романтичні знайомства, а </a:t>
            </a:r>
            <a:r>
              <a:rPr lang="uk-UA" dirty="0" err="1"/>
              <a:t>Facebook</a:t>
            </a:r>
            <a:r>
              <a:rPr lang="uk-UA" dirty="0"/>
              <a:t> та </a:t>
            </a:r>
            <a:r>
              <a:rPr lang="uk-UA" dirty="0" err="1"/>
              <a:t>Instagram</a:t>
            </a:r>
            <a:r>
              <a:rPr lang="uk-UA" dirty="0"/>
              <a:t> поєднують стрічку новин із рекламним контентом, через що пошук людей зі спільними інтересами </a:t>
            </a:r>
            <a:r>
              <a:rPr lang="uk-UA" dirty="0" err="1"/>
              <a:t>ускладнюється</a:t>
            </a:r>
            <a:r>
              <a:rPr lang="uk-UA" dirty="0"/>
              <a:t>.</a:t>
            </a:r>
          </a:p>
          <a:p>
            <a:pPr marL="114300" indent="0">
              <a:buNone/>
            </a:pPr>
            <a:r>
              <a:rPr lang="uk-UA" dirty="0"/>
              <a:t>Платформ, які б одночасно поєднували знайомства за інтересами, участь у реальних подіях, групове спілкування та особистий розвиток через щоденні завдання, на ринку практично немає.</a:t>
            </a:r>
          </a:p>
          <a:p>
            <a:pPr marL="114300" indent="0">
              <a:buNone/>
            </a:pPr>
            <a:r>
              <a:rPr lang="uk-UA" b="1" dirty="0"/>
              <a:t>Мета роботи</a:t>
            </a:r>
            <a:r>
              <a:rPr lang="uk-UA" dirty="0"/>
              <a:t> — проєктування та реалізація клієнтської частини соціальної мережі </a:t>
            </a:r>
            <a:r>
              <a:rPr lang="uk-UA" dirty="0" err="1"/>
              <a:t>Bokado</a:t>
            </a:r>
            <a:r>
              <a:rPr lang="uk-UA" dirty="0"/>
              <a:t> на основі </a:t>
            </a:r>
            <a:r>
              <a:rPr lang="uk-UA" dirty="0" err="1"/>
              <a:t>React</a:t>
            </a:r>
            <a:r>
              <a:rPr lang="uk-UA" dirty="0"/>
              <a:t> 18 та </a:t>
            </a:r>
            <a:r>
              <a:rPr lang="uk-UA" dirty="0" err="1"/>
              <a:t>TypeScript</a:t>
            </a:r>
            <a:r>
              <a:rPr lang="uk-UA" dirty="0"/>
              <a:t>, що закриває цю прогалину.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endParaRPr lang="uk-UA" dirty="0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102818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uk-UA" dirty="0" err="1"/>
              <a:t>Tinder</a:t>
            </a:r>
            <a:r>
              <a:rPr lang="uk-UA" dirty="0"/>
              <a:t>, запущений у 2012 році, є однією з найбільших у світі мобільних платформ для знайомств — його аудиторія перевищує 75 мільйонів активних користувачів у понад 190 країнах. Сервіс побудовано навколо механіки </a:t>
            </a:r>
            <a:r>
              <a:rPr lang="uk-UA" dirty="0" err="1"/>
              <a:t>свайпів</a:t>
            </a:r>
            <a:r>
              <a:rPr lang="uk-UA" dirty="0"/>
              <a:t>: користувач переглядає короткі картки інших людей із фото та мінімальною біографією й позначає інтерес або відмову одним рухом. Така спрощена модель забезпечила </a:t>
            </a:r>
            <a:r>
              <a:rPr lang="uk-UA" dirty="0" err="1"/>
              <a:t>Tinder</a:t>
            </a:r>
            <a:r>
              <a:rPr lang="uk-UA" dirty="0"/>
              <a:t> вірусне поширення та задала стандарт інтерфейсу для всієї індустрії знайомств.</a:t>
            </a:r>
          </a:p>
          <a:p>
            <a:pPr marL="114300" indent="0">
              <a:buNone/>
            </a:pPr>
            <a:endParaRPr lang="uk-UA" dirty="0"/>
          </a:p>
          <a:p>
            <a:pPr marL="114300" indent="0">
              <a:buNone/>
            </a:pPr>
            <a:r>
              <a:rPr lang="uk-UA" dirty="0"/>
              <a:t>Водночас сервіс орієнтований виключно на романтичні знайомства — у його моделі взаємодії немає поняття дружнього спілкування, тематичних інтересів чи групової активності. Підтримка груп, спільнот та подій відсутня, а комунікація обмежується одиничним чатом між двома користувачами після обопільного збігу. Монетизація реалізована через рівневі підписки </a:t>
            </a:r>
            <a:r>
              <a:rPr lang="uk-UA" dirty="0" err="1"/>
              <a:t>Tinder</a:t>
            </a:r>
            <a:r>
              <a:rPr lang="uk-UA" dirty="0"/>
              <a:t> </a:t>
            </a:r>
            <a:r>
              <a:rPr lang="uk-UA" dirty="0" err="1"/>
              <a:t>Plus</a:t>
            </a:r>
            <a:r>
              <a:rPr lang="uk-UA" dirty="0"/>
              <a:t>, </a:t>
            </a:r>
            <a:r>
              <a:rPr lang="uk-UA" dirty="0" err="1"/>
              <a:t>Gold</a:t>
            </a:r>
            <a:r>
              <a:rPr lang="uk-UA" dirty="0"/>
              <a:t> і </a:t>
            </a:r>
            <a:r>
              <a:rPr lang="uk-UA" dirty="0" err="1"/>
              <a:t>Platinum</a:t>
            </a:r>
            <a:r>
              <a:rPr lang="uk-UA" dirty="0"/>
              <a:t>. Алгоритм підбору ґрунтується насамперед на </a:t>
            </a:r>
            <a:r>
              <a:rPr lang="uk-UA" dirty="0" err="1"/>
              <a:t>геолокації</a:t>
            </a:r>
            <a:r>
              <a:rPr lang="uk-UA" dirty="0"/>
              <a:t> та віковому фільтрі, а не на збігу інтересів, тому пошук однодумців за конкретними хобі через </a:t>
            </a:r>
            <a:r>
              <a:rPr lang="uk-UA" dirty="0" err="1"/>
              <a:t>Tinder</a:t>
            </a:r>
            <a:r>
              <a:rPr lang="uk-UA" dirty="0"/>
              <a:t> неефективний.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14300" indent="0">
              <a:buNone/>
            </a:pPr>
            <a:r>
              <a:rPr lang="uk-UA" dirty="0" err="1"/>
              <a:t>Instagram</a:t>
            </a:r>
            <a:r>
              <a:rPr lang="uk-UA" dirty="0"/>
              <a:t> і </a:t>
            </a:r>
            <a:r>
              <a:rPr lang="uk-UA" dirty="0" err="1"/>
              <a:t>Facebook</a:t>
            </a:r>
            <a:r>
              <a:rPr lang="uk-UA" dirty="0"/>
              <a:t> є універсальними соціальними мережами, що поєднують стрічку новин, публікації, рекламний контент і базові інструменти комунікації. На відміну від </a:t>
            </a:r>
            <a:r>
              <a:rPr lang="uk-UA" dirty="0" err="1"/>
              <a:t>Tinder</a:t>
            </a:r>
            <a:r>
              <a:rPr lang="uk-UA" dirty="0"/>
              <a:t>, вони не обмежені виключно романтичними знайомствами, проте пошук людей за спільними інтересами не є їхньою основною функцією: алгоритми стрічки орієнтовані на утримання уваги користувача рекламним і розважальним контентом, а не на цілеспрямоване знаходження однодумців за хобі чи спільною діяльністю.</a:t>
            </a:r>
          </a:p>
          <a:p>
            <a:pPr marL="114300" indent="0">
              <a:buNone/>
            </a:pPr>
            <a:r>
              <a:rPr lang="uk-UA" dirty="0"/>
              <a:t>Узагальнений аналіз існуючих рішень дозволив виявити системні прогалини ринку:</a:t>
            </a:r>
          </a:p>
          <a:p>
            <a:r>
              <a:rPr lang="uk-UA" dirty="0"/>
              <a:t>відсутність розширеної фільтрації користувачів за спільними інтересами або участю в подіях;</a:t>
            </a:r>
          </a:p>
          <a:p>
            <a:r>
              <a:rPr lang="uk-UA" dirty="0"/>
              <a:t>низький рівень інформаційної безпеки та значна кількість фейкових акаунтів;</a:t>
            </a:r>
          </a:p>
          <a:p>
            <a:r>
              <a:rPr lang="uk-UA" dirty="0"/>
              <a:t>обмеження функціоналу у безкоштовній версії додатків;</a:t>
            </a:r>
          </a:p>
          <a:p>
            <a:r>
              <a:rPr lang="uk-UA" dirty="0"/>
              <a:t>відсутність елементів </a:t>
            </a:r>
            <a:r>
              <a:rPr lang="uk-UA" dirty="0" err="1"/>
              <a:t>гейміфікації</a:t>
            </a:r>
            <a:r>
              <a:rPr lang="uk-UA" dirty="0"/>
              <a:t>, що знижує мотивацію до тривалого використання сервісу;</a:t>
            </a:r>
          </a:p>
          <a:p>
            <a:r>
              <a:rPr lang="uk-UA" dirty="0"/>
              <a:t>недостатній рівень локалізації під україномовну аудиторію;</a:t>
            </a:r>
          </a:p>
          <a:p>
            <a:r>
              <a:rPr lang="uk-UA" dirty="0"/>
              <a:t>перевантаженість інтерфейсу, що ускладнює навігацію.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1212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ru-RU" b="1" dirty="0" err="1"/>
              <a:t>Чітке</a:t>
            </a:r>
            <a:r>
              <a:rPr lang="ru-RU" b="1" dirty="0"/>
              <a:t> </a:t>
            </a:r>
            <a:r>
              <a:rPr lang="ru-RU" b="1" dirty="0" err="1"/>
              <a:t>формулювання</a:t>
            </a:r>
            <a:r>
              <a:rPr lang="ru-RU" b="1" dirty="0"/>
              <a:t> </a:t>
            </a:r>
            <a:r>
              <a:rPr lang="ru-RU" b="1" dirty="0" err="1"/>
              <a:t>проблеми</a:t>
            </a:r>
            <a:endParaRPr lang="ru-RU" b="1" dirty="0"/>
          </a:p>
          <a:p>
            <a:pPr marL="114300" indent="0">
              <a:buNone/>
            </a:pPr>
            <a:r>
              <a:rPr lang="uk-UA" dirty="0"/>
              <a:t>У сучасному інформаційному суспільстві існує гостра потреба у зручних, безпечних і функціональних веб-додатках для встановлення нових соціальних </a:t>
            </a:r>
            <a:r>
              <a:rPr lang="uk-UA" dirty="0" err="1"/>
              <a:t>зв'язків</a:t>
            </a:r>
            <a:r>
              <a:rPr lang="uk-UA" dirty="0"/>
              <a:t>, особливо серед молоді. Проте більшість наявних рішень не враховують специфіку україномовної аудиторії, мають обмежену локалізацію, недостатній рівень </a:t>
            </a:r>
            <a:r>
              <a:rPr lang="uk-UA" dirty="0" err="1"/>
              <a:t>гейміфікації</a:t>
            </a:r>
            <a:r>
              <a:rPr lang="uk-UA" dirty="0"/>
              <a:t> та персоналізації, а також складний або перевантажений інтерфейс.</a:t>
            </a:r>
          </a:p>
          <a:p>
            <a:pPr marL="114300" indent="0">
              <a:buNone/>
            </a:pPr>
            <a:r>
              <a:rPr lang="uk-UA" dirty="0"/>
              <a:t>Водночас користувачі прагнуть мати змогу швидко та інтуїтивно взаємодіяти між собою на основі спільних інтересів, брати участь у подіях та спілкуватися в реальному часі.</a:t>
            </a:r>
          </a:p>
          <a:p>
            <a:pPr marL="114300" indent="0">
              <a:buNone/>
            </a:pPr>
            <a:r>
              <a:rPr lang="uk-UA" dirty="0"/>
              <a:t>Таким чином, виникає потреба у створенні веб-додатку, який поєднує широкі функціональні можливості, адаптивність, зручний інтерфейс та підтримку української мови, з орієнтацією на безпечну взаємодію і соціальну активність користувачів.</a:t>
            </a:r>
          </a:p>
          <a:p>
            <a:pPr marL="114300" indent="0">
              <a:buNone/>
            </a:pPr>
            <a:endParaRPr lang="ru-RU" b="1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ru-RU" sz="1100" b="1" dirty="0" err="1"/>
              <a:t>Опис</a:t>
            </a:r>
            <a:r>
              <a:rPr lang="ru-RU" sz="1100" b="1" dirty="0"/>
              <a:t> </a:t>
            </a:r>
            <a:r>
              <a:rPr lang="ru-RU" sz="1100" b="1" dirty="0" err="1"/>
              <a:t>очікуваних</a:t>
            </a:r>
            <a:r>
              <a:rPr lang="ru-RU" sz="1100" b="1" dirty="0"/>
              <a:t> </a:t>
            </a:r>
            <a:r>
              <a:rPr lang="ru-RU" sz="1100" b="1" dirty="0" err="1"/>
              <a:t>результатів</a:t>
            </a:r>
            <a:endParaRPr lang="ru-RU" sz="1100" b="1" dirty="0"/>
          </a:p>
          <a:p>
            <a:r>
              <a:rPr lang="uk-UA" sz="1100" dirty="0"/>
              <a:t>У результаті виконання проєкту очікується створення масштабованого та функціонально повного клієнтського веб-додатку для пошуку друзів, орієнтованого на українськомовну молодь. Додаток забезпечуватиме:</a:t>
            </a:r>
          </a:p>
          <a:p>
            <a:r>
              <a:rPr lang="uk-UA" sz="1100" dirty="0"/>
              <a:t>реєстрацію та авторизацію користувачів з підтримкою відновлення паролю;</a:t>
            </a:r>
          </a:p>
          <a:p>
            <a:r>
              <a:rPr lang="uk-UA" sz="1100" dirty="0"/>
              <a:t>створення та редагування профілю з налаштуванням особистих даних та інтересів;</a:t>
            </a:r>
          </a:p>
          <a:p>
            <a:r>
              <a:rPr lang="uk-UA" sz="1100" dirty="0"/>
              <a:t>пошук інших користувачів із фільтрами за містом та інтересами;</a:t>
            </a:r>
          </a:p>
          <a:p>
            <a:r>
              <a:rPr lang="uk-UA" sz="1100" dirty="0"/>
              <a:t>систему запитів у друзі та історії взаємодій;</a:t>
            </a:r>
          </a:p>
          <a:p>
            <a:r>
              <a:rPr lang="uk-UA" sz="1100" dirty="0"/>
              <a:t>підтримку текстових та </a:t>
            </a:r>
            <a:r>
              <a:rPr lang="uk-UA" sz="1100" dirty="0" err="1"/>
              <a:t>медіачатів</a:t>
            </a:r>
            <a:r>
              <a:rPr lang="uk-UA" sz="1100" dirty="0"/>
              <a:t> у реальному часі;</a:t>
            </a:r>
          </a:p>
          <a:p>
            <a:r>
              <a:rPr lang="uk-UA" sz="1100" dirty="0"/>
              <a:t>реалізацію подій та </a:t>
            </a:r>
            <a:r>
              <a:rPr lang="uk-UA" sz="1100" dirty="0" err="1"/>
              <a:t>челенджів</a:t>
            </a:r>
            <a:r>
              <a:rPr lang="uk-UA" sz="1100" dirty="0"/>
              <a:t> з можливістю приєднання та взаємодії;</a:t>
            </a:r>
          </a:p>
          <a:p>
            <a:r>
              <a:rPr lang="uk-UA" sz="1100" dirty="0"/>
              <a:t>елементи </a:t>
            </a:r>
            <a:r>
              <a:rPr lang="uk-UA" sz="1100" dirty="0" err="1"/>
              <a:t>гейміфікації</a:t>
            </a:r>
            <a:r>
              <a:rPr lang="uk-UA" sz="1100" dirty="0"/>
              <a:t> (рівні, бали, щоденні завдання);</a:t>
            </a:r>
          </a:p>
          <a:p>
            <a:r>
              <a:rPr lang="uk-UA" sz="1100" dirty="0"/>
              <a:t>преміум-функції для розширеної взаємодії;</a:t>
            </a:r>
          </a:p>
          <a:p>
            <a:r>
              <a:rPr lang="uk-UA" sz="1100" dirty="0"/>
              <a:t>адаптивність для мобільних і </a:t>
            </a:r>
            <a:r>
              <a:rPr lang="uk-UA" sz="1100" dirty="0" err="1"/>
              <a:t>десктопних</a:t>
            </a:r>
            <a:r>
              <a:rPr lang="uk-UA" sz="1100" dirty="0"/>
              <a:t> пристроїв;</a:t>
            </a:r>
          </a:p>
          <a:p>
            <a:r>
              <a:rPr lang="uk-UA" sz="1100" dirty="0"/>
              <a:t>адміністративну панель для моніторингу та управління контентом.</a:t>
            </a:r>
          </a:p>
          <a:p>
            <a:pPr marL="114300" indent="0">
              <a:buNone/>
            </a:pPr>
            <a:r>
              <a:rPr lang="uk-UA" sz="1100" dirty="0"/>
              <a:t>Очікуваний інтерфейс має відповідати сучасним стандартам продуктивності, доступності, безпеки й UX/UI-дизайну.</a:t>
            </a:r>
          </a:p>
          <a:p>
            <a:pPr marL="114300" indent="0">
              <a:buNone/>
            </a:pPr>
            <a:endParaRPr lang="ru-RU" sz="1100" b="1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0003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284316" y="1057967"/>
            <a:ext cx="8818882" cy="22535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114300" indent="0">
              <a:buNone/>
            </a:pPr>
            <a:r>
              <a:rPr lang="uk-UA" dirty="0"/>
              <a:t>Для реалізації клієнтської частини соціальної мережі </a:t>
            </a:r>
            <a:r>
              <a:rPr lang="uk-UA" dirty="0" err="1"/>
              <a:t>Bokado</a:t>
            </a:r>
            <a:r>
              <a:rPr lang="uk-UA" dirty="0"/>
              <a:t> застосовано сучасний технологічний стек, що забезпечує </a:t>
            </a:r>
            <a:r>
              <a:rPr lang="uk-UA" dirty="0" err="1"/>
              <a:t>типобезпеку</a:t>
            </a:r>
            <a:r>
              <a:rPr lang="uk-UA" dirty="0"/>
              <a:t>, швидкодію та зручність підтримки коду:</a:t>
            </a:r>
          </a:p>
          <a:p>
            <a:r>
              <a:rPr lang="uk-UA" b="1" dirty="0" err="1"/>
              <a:t>React</a:t>
            </a:r>
            <a:r>
              <a:rPr lang="uk-UA" b="1" dirty="0"/>
              <a:t> 18</a:t>
            </a:r>
            <a:r>
              <a:rPr lang="uk-UA" dirty="0"/>
              <a:t> — бібліотека для побудови інтерактивного інтерфейсу користувача на основі компонентів;</a:t>
            </a:r>
          </a:p>
          <a:p>
            <a:r>
              <a:rPr lang="uk-UA" b="1" dirty="0" err="1"/>
              <a:t>TypeScript</a:t>
            </a:r>
            <a:r>
              <a:rPr lang="uk-UA" dirty="0"/>
              <a:t> — мова програмування, що додає статичну типізацію до </a:t>
            </a:r>
            <a:r>
              <a:rPr lang="uk-UA" dirty="0" err="1"/>
              <a:t>JavaScript</a:t>
            </a:r>
            <a:r>
              <a:rPr lang="uk-UA" dirty="0"/>
              <a:t>, підвищуючи надійність і зручність підтримки коду;</a:t>
            </a:r>
          </a:p>
          <a:p>
            <a:r>
              <a:rPr lang="uk-UA" b="1" dirty="0" err="1"/>
              <a:t>Vite</a:t>
            </a:r>
            <a:r>
              <a:rPr lang="uk-UA" dirty="0"/>
              <a:t> — сучасний інструмент для швидкої розробки та збірки </a:t>
            </a:r>
            <a:r>
              <a:rPr lang="uk-UA" dirty="0" err="1"/>
              <a:t>фронтенд</a:t>
            </a:r>
            <a:r>
              <a:rPr lang="uk-UA" dirty="0"/>
              <a:t>-проєктів із підтримкою миттєвого оновлення;</a:t>
            </a:r>
          </a:p>
          <a:p>
            <a:r>
              <a:rPr lang="uk-UA" b="1" dirty="0" err="1"/>
              <a:t>Redux</a:t>
            </a:r>
            <a:r>
              <a:rPr lang="uk-UA" b="1" dirty="0"/>
              <a:t> </a:t>
            </a:r>
            <a:r>
              <a:rPr lang="uk-UA" b="1" dirty="0" err="1"/>
              <a:t>Toolkit</a:t>
            </a:r>
            <a:r>
              <a:rPr lang="uk-UA" dirty="0"/>
              <a:t> — бібліотека для централізованого керування станом застосунку через </a:t>
            </a:r>
            <a:r>
              <a:rPr lang="uk-UA" dirty="0" err="1"/>
              <a:t>слайси</a:t>
            </a:r>
            <a:r>
              <a:rPr lang="uk-UA" dirty="0"/>
              <a:t> з асинхронними </a:t>
            </a:r>
            <a:r>
              <a:rPr lang="uk-UA" dirty="0" err="1"/>
              <a:t>thunks</a:t>
            </a:r>
            <a:r>
              <a:rPr lang="uk-UA" dirty="0"/>
              <a:t>;</a:t>
            </a:r>
          </a:p>
          <a:p>
            <a:r>
              <a:rPr lang="uk-UA" b="1" dirty="0" err="1"/>
              <a:t>Axios</a:t>
            </a:r>
            <a:r>
              <a:rPr lang="uk-UA" dirty="0"/>
              <a:t> — HTTP-клієнт для надсилання запитів до сервера через REST API з автоматичною підстановкою JWT-токена;</a:t>
            </a:r>
          </a:p>
          <a:p>
            <a:r>
              <a:rPr lang="uk-UA" b="1" dirty="0" err="1"/>
              <a:t>React</a:t>
            </a:r>
            <a:r>
              <a:rPr lang="uk-UA" b="1" dirty="0"/>
              <a:t> </a:t>
            </a:r>
            <a:r>
              <a:rPr lang="uk-UA" b="1" dirty="0" err="1"/>
              <a:t>Router</a:t>
            </a:r>
            <a:r>
              <a:rPr lang="uk-UA" dirty="0"/>
              <a:t> — маршрутизація застосунку з захистом приватних сторінок через компонент </a:t>
            </a:r>
            <a:r>
              <a:rPr lang="uk-UA" dirty="0" err="1"/>
              <a:t>ProtectedRoute</a:t>
            </a:r>
            <a:r>
              <a:rPr lang="uk-UA" dirty="0"/>
              <a:t>;</a:t>
            </a:r>
          </a:p>
          <a:p>
            <a:r>
              <a:rPr lang="uk-UA" b="1" dirty="0"/>
              <a:t>@microsoft/signalr</a:t>
            </a:r>
            <a:r>
              <a:rPr lang="uk-UA" dirty="0"/>
              <a:t> — обмін повідомленнями в реальному часі через </a:t>
            </a:r>
            <a:r>
              <a:rPr lang="uk-UA" dirty="0" err="1"/>
              <a:t>WebSocket</a:t>
            </a:r>
            <a:r>
              <a:rPr lang="uk-UA" dirty="0"/>
              <a:t> з автоматичним </a:t>
            </a:r>
            <a:r>
              <a:rPr lang="uk-UA" dirty="0" err="1"/>
              <a:t>перепідключенням</a:t>
            </a:r>
            <a:r>
              <a:rPr lang="uk-UA" dirty="0"/>
              <a:t>;</a:t>
            </a:r>
          </a:p>
          <a:p>
            <a:r>
              <a:rPr lang="uk-UA" b="1" dirty="0" err="1"/>
              <a:t>Framer</a:t>
            </a:r>
            <a:r>
              <a:rPr lang="uk-UA" b="1" dirty="0"/>
              <a:t> </a:t>
            </a:r>
            <a:r>
              <a:rPr lang="uk-UA" b="1" dirty="0" err="1"/>
              <a:t>Motion</a:t>
            </a:r>
            <a:r>
              <a:rPr lang="uk-UA" dirty="0"/>
              <a:t> — бібліотека для реалізації анімацій інтерфейсу.</a:t>
            </a:r>
          </a:p>
          <a:p>
            <a:pPr marL="114300" indent="0">
              <a:buNone/>
            </a:pPr>
            <a:r>
              <a:rPr lang="uk-UA" dirty="0"/>
              <a:t>Код організовано за принципом </a:t>
            </a:r>
            <a:r>
              <a:rPr lang="uk-UA" dirty="0" err="1"/>
              <a:t>Feature-Sliced</a:t>
            </a:r>
            <a:r>
              <a:rPr lang="uk-UA" dirty="0"/>
              <a:t> </a:t>
            </a:r>
            <a:r>
              <a:rPr lang="uk-UA" dirty="0" err="1"/>
              <a:t>Design</a:t>
            </a:r>
            <a:r>
              <a:rPr lang="uk-UA" dirty="0"/>
              <a:t> — розподілом на функціональні модулі (</a:t>
            </a:r>
            <a:r>
              <a:rPr lang="uk-UA" dirty="0" err="1"/>
              <a:t>auth</a:t>
            </a:r>
            <a:r>
              <a:rPr lang="uk-UA" dirty="0"/>
              <a:t>, </a:t>
            </a:r>
            <a:r>
              <a:rPr lang="uk-UA" dirty="0" err="1"/>
              <a:t>profile</a:t>
            </a:r>
            <a:r>
              <a:rPr lang="uk-UA" dirty="0"/>
              <a:t>, </a:t>
            </a:r>
            <a:r>
              <a:rPr lang="uk-UA" dirty="0" err="1"/>
              <a:t>chat</a:t>
            </a:r>
            <a:r>
              <a:rPr lang="uk-UA" dirty="0"/>
              <a:t>, </a:t>
            </a:r>
            <a:r>
              <a:rPr lang="uk-UA" dirty="0" err="1"/>
              <a:t>friends</a:t>
            </a:r>
            <a:r>
              <a:rPr lang="uk-UA" dirty="0"/>
              <a:t>, </a:t>
            </a:r>
            <a:r>
              <a:rPr lang="uk-UA" dirty="0" err="1"/>
              <a:t>groups</a:t>
            </a:r>
            <a:r>
              <a:rPr lang="uk-UA" dirty="0"/>
              <a:t>, </a:t>
            </a:r>
            <a:r>
              <a:rPr lang="uk-UA" dirty="0" err="1"/>
              <a:t>events</a:t>
            </a:r>
            <a:r>
              <a:rPr lang="uk-UA" dirty="0"/>
              <a:t>, </a:t>
            </a:r>
            <a:r>
              <a:rPr lang="uk-UA" dirty="0" err="1"/>
              <a:t>challenges</a:t>
            </a:r>
            <a:r>
              <a:rPr lang="uk-UA" dirty="0"/>
              <a:t>), що полегшує масштабування та підтримку проєкту.</a:t>
            </a: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pic>
        <p:nvPicPr>
          <p:cNvPr id="2056" name="Picture 8" descr="вите, логотип значок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838" y="3511731"/>
            <a:ext cx="647558" cy="647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возвращение, оригинал, логотип значок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975" y="3399167"/>
            <a:ext cx="797462" cy="797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Аксиос, логотип значок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016" y="3496564"/>
            <a:ext cx="1400130" cy="70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 descr="реагировать оригинал словесный логотип значок">
            <a:extLst>
              <a:ext uri="{FF2B5EF4-FFF2-40B4-BE49-F238E27FC236}">
                <a16:creationId xmlns:a16="http://schemas.microsoft.com/office/drawing/2014/main" id="{1E00EC2E-7C48-AD15-E138-D256B49490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700" y="3381658"/>
            <a:ext cx="832480" cy="832480"/>
          </a:xfrm>
          <a:prstGeom prst="rect">
            <a:avLst/>
          </a:prstGeom>
        </p:spPr>
      </p:pic>
      <p:pic>
        <p:nvPicPr>
          <p:cNvPr id="4" name="Рисунок 3" descr="машинопись оригинал логотип значок">
            <a:extLst>
              <a:ext uri="{FF2B5EF4-FFF2-40B4-BE49-F238E27FC236}">
                <a16:creationId xmlns:a16="http://schemas.microsoft.com/office/drawing/2014/main" id="{758666FC-91FA-DAF7-5FFE-7A4A1D0A75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4775" y="3426687"/>
            <a:ext cx="787451" cy="787451"/>
          </a:xfrm>
          <a:prstGeom prst="rect">
            <a:avLst/>
          </a:prstGeom>
        </p:spPr>
      </p:pic>
      <p:pic>
        <p:nvPicPr>
          <p:cNvPr id="5" name="Рисунок 4" descr="реактороутер логотип значок">
            <a:extLst>
              <a:ext uri="{FF2B5EF4-FFF2-40B4-BE49-F238E27FC236}">
                <a16:creationId xmlns:a16="http://schemas.microsoft.com/office/drawing/2014/main" id="{7E1DF137-0DC6-1690-D7BB-1AF7A7C750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9730" y="3379109"/>
            <a:ext cx="831301" cy="831301"/>
          </a:xfrm>
          <a:prstGeom prst="rect">
            <a:avLst/>
          </a:prstGeom>
        </p:spPr>
      </p:pic>
      <p:pic>
        <p:nvPicPr>
          <p:cNvPr id="8" name="Рисунок 7" descr="Technologies - SilverKey Technologies">
            <a:extLst>
              <a:ext uri="{FF2B5EF4-FFF2-40B4-BE49-F238E27FC236}">
                <a16:creationId xmlns:a16="http://schemas.microsoft.com/office/drawing/2014/main" id="{DC1B9FEF-8078-C155-E3FD-F237045B4D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6534" y="3554314"/>
            <a:ext cx="1044555" cy="48089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5C873B1-A98C-3E17-CB29-32C4CE6430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507" y="3334717"/>
            <a:ext cx="820954" cy="7929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453900"/>
            <a:ext cx="4048265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uk-UA" dirty="0"/>
              <a:t>Архітектура розробленої системи базується на багатошаровому підході з використанням шаблону </a:t>
            </a:r>
            <a:r>
              <a:rPr lang="uk-UA" dirty="0" err="1"/>
              <a:t>Client</a:t>
            </a:r>
            <a:r>
              <a:rPr lang="uk-UA" dirty="0"/>
              <a:t>-Server, де клієнт надсилає HTTP-запити до сервера через </a:t>
            </a:r>
            <a:r>
              <a:rPr lang="uk-UA" dirty="0" err="1"/>
              <a:t>RESTful</a:t>
            </a:r>
            <a:r>
              <a:rPr lang="uk-UA" dirty="0"/>
              <a:t> API, а сервер відповідає у форматі JSON. Клієнтська частина реалізована з використанням </a:t>
            </a:r>
            <a:r>
              <a:rPr lang="uk-UA" dirty="0" err="1"/>
              <a:t>feature-based</a:t>
            </a:r>
            <a:r>
              <a:rPr lang="uk-UA" dirty="0"/>
              <a:t> структури у поєднанні з багатошаровою архітектурою:</a:t>
            </a:r>
          </a:p>
          <a:p>
            <a:pPr marL="0" lvl="0" indent="0">
              <a:spcBef>
                <a:spcPts val="1500"/>
              </a:spcBef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E8FC7D-2D6C-01B4-3886-4F7A0B833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716" y="1453900"/>
            <a:ext cx="2752550" cy="199336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6125F8-DDFE-00CF-1B3A-FAB20C0E2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9965" y="1017955"/>
            <a:ext cx="1633335" cy="35883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8B5A94D2-3E7A-FCF6-67A8-B520BE29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5FBEE37D-6C40-0645-1D6D-6713A23F2E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782" y="0"/>
            <a:ext cx="8520600" cy="5817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/>
              <a:t>Архітектура створеного програмного забезпечення</a:t>
            </a:r>
            <a:endParaRPr sz="3200" dirty="0"/>
          </a:p>
        </p:txBody>
      </p:sp>
      <p:sp>
        <p:nvSpPr>
          <p:cNvPr id="100" name="Google Shape;100;p18">
            <a:extLst>
              <a:ext uri="{FF2B5EF4-FFF2-40B4-BE49-F238E27FC236}">
                <a16:creationId xmlns:a16="http://schemas.microsoft.com/office/drawing/2014/main" id="{7D6AADB6-B6DD-4D58-B519-0664A038A3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1782" y="581751"/>
            <a:ext cx="8685474" cy="697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uk-UA" sz="1400" dirty="0"/>
              <a:t>Для формалізації вимог до системи побудовано діаграму варіантів використання (</a:t>
            </a:r>
            <a:r>
              <a:rPr lang="uk-UA" sz="1400" dirty="0" err="1"/>
              <a:t>Use</a:t>
            </a:r>
            <a:r>
              <a:rPr lang="uk-UA" sz="1400" dirty="0"/>
              <a:t> </a:t>
            </a:r>
            <a:r>
              <a:rPr lang="uk-UA" sz="1400" dirty="0" err="1"/>
              <a:t>Case</a:t>
            </a:r>
            <a:r>
              <a:rPr lang="uk-UA" sz="1400" dirty="0"/>
              <a:t>), що відображає взаємодію чотирьох акторів — Гостя, Зареєстрованого користувача, Premium </a:t>
            </a:r>
            <a:r>
              <a:rPr lang="uk-UA" sz="1400" dirty="0" err="1"/>
              <a:t>User</a:t>
            </a:r>
            <a:r>
              <a:rPr lang="uk-UA" sz="1400" dirty="0"/>
              <a:t> та Admin — із функціональними можливостями платформи й розподіл прав доступу між ролями.</a:t>
            </a:r>
          </a:p>
          <a:p>
            <a:pPr marL="114300" indent="0">
              <a:buNone/>
            </a:pPr>
            <a:r>
              <a:rPr lang="uk-UA" sz="1400" dirty="0"/>
              <a:t>Зареєстрований користувач має доступ до найширшого переліку дій: пошук людей, запити на дружбу, особисті й групові чати з </a:t>
            </a:r>
            <a:r>
              <a:rPr lang="uk-UA" sz="1400" dirty="0" err="1"/>
              <a:t>відеодзвінками</a:t>
            </a:r>
            <a:r>
              <a:rPr lang="uk-UA" sz="1400" dirty="0"/>
              <a:t> через </a:t>
            </a:r>
            <a:r>
              <a:rPr lang="uk-UA" sz="1400" dirty="0" err="1"/>
              <a:t>Jitsi</a:t>
            </a:r>
            <a:r>
              <a:rPr lang="uk-UA" sz="1400" dirty="0"/>
              <a:t> </a:t>
            </a:r>
            <a:r>
              <a:rPr lang="uk-UA" sz="1400" dirty="0" err="1"/>
              <a:t>Meet</a:t>
            </a:r>
            <a:r>
              <a:rPr lang="uk-UA" sz="1400" dirty="0"/>
              <a:t>, створення груп і подій, виконання </a:t>
            </a:r>
            <a:r>
              <a:rPr lang="uk-UA" sz="1400" dirty="0" err="1"/>
              <a:t>челенджів</a:t>
            </a:r>
            <a:r>
              <a:rPr lang="uk-UA" sz="1400" dirty="0"/>
              <a:t>. Premium </a:t>
            </a:r>
            <a:r>
              <a:rPr lang="uk-UA" sz="1400" dirty="0" err="1"/>
              <a:t>User</a:t>
            </a:r>
            <a:r>
              <a:rPr lang="uk-UA" sz="1400" dirty="0"/>
              <a:t> додатково отримує необмежену кількість груп, збільшений ліміт учасників та розширений редактор тексту. Admin керує </a:t>
            </a:r>
            <a:r>
              <a:rPr lang="uk-UA" sz="1400" dirty="0" err="1"/>
              <a:t>модерацією</a:t>
            </a:r>
            <a:r>
              <a:rPr lang="uk-UA" sz="1400" dirty="0"/>
              <a:t>, статистикою та преміум-статусами користувачів.</a:t>
            </a:r>
          </a:p>
          <a:p>
            <a:pPr marL="114300" indent="0">
              <a:buNone/>
            </a:pPr>
            <a:r>
              <a:rPr lang="uk-UA" sz="1400" dirty="0"/>
              <a:t>На основі вимог побудовано також діаграму класів, що відображає структуру системи: центральну сутність </a:t>
            </a:r>
            <a:r>
              <a:rPr lang="uk-UA" sz="1400" dirty="0" err="1"/>
              <a:t>User</a:t>
            </a:r>
            <a:r>
              <a:rPr lang="uk-UA" sz="1400" dirty="0"/>
              <a:t> та пов'язані з нею класи </a:t>
            </a:r>
            <a:r>
              <a:rPr lang="uk-UA" sz="1400" dirty="0" err="1"/>
              <a:t>Profile</a:t>
            </a:r>
            <a:r>
              <a:rPr lang="uk-UA" sz="1400" dirty="0"/>
              <a:t>, </a:t>
            </a:r>
            <a:r>
              <a:rPr lang="uk-UA" sz="1400" dirty="0" err="1"/>
              <a:t>Post</a:t>
            </a:r>
            <a:r>
              <a:rPr lang="uk-UA" sz="1400" dirty="0"/>
              <a:t>, </a:t>
            </a:r>
            <a:r>
              <a:rPr lang="uk-UA" sz="1400" dirty="0" err="1"/>
              <a:t>Chat</a:t>
            </a:r>
            <a:r>
              <a:rPr lang="uk-UA" sz="1400" dirty="0"/>
              <a:t>, </a:t>
            </a:r>
            <a:r>
              <a:rPr lang="uk-UA" sz="1400" dirty="0" err="1"/>
              <a:t>Message</a:t>
            </a:r>
            <a:r>
              <a:rPr lang="uk-UA" sz="1400" dirty="0"/>
              <a:t>, </a:t>
            </a:r>
            <a:r>
              <a:rPr lang="uk-UA" sz="1400" dirty="0" err="1"/>
              <a:t>Event</a:t>
            </a:r>
            <a:r>
              <a:rPr lang="uk-UA" sz="1400" dirty="0"/>
              <a:t>, </a:t>
            </a:r>
            <a:r>
              <a:rPr lang="uk-UA" sz="1400" dirty="0" err="1"/>
              <a:t>Group</a:t>
            </a:r>
            <a:r>
              <a:rPr lang="uk-UA" sz="1400" dirty="0"/>
              <a:t>, </a:t>
            </a:r>
            <a:r>
              <a:rPr lang="uk-UA" sz="1400" dirty="0" err="1"/>
              <a:t>Challenge</a:t>
            </a:r>
            <a:r>
              <a:rPr lang="uk-UA" sz="1400" dirty="0"/>
              <a:t> і </a:t>
            </a:r>
            <a:r>
              <a:rPr lang="uk-UA" sz="1400" dirty="0" err="1"/>
              <a:t>Friend</a:t>
            </a:r>
            <a:r>
              <a:rPr lang="uk-UA" sz="1400" dirty="0"/>
              <a:t> — з їхніми атрибутами, методами та зв'язками агрегації й композиції.</a:t>
            </a:r>
          </a:p>
          <a:p>
            <a:pPr marL="114300" indent="0" algn="just">
              <a:buNone/>
            </a:pPr>
            <a:endParaRPr lang="uk-UA" sz="1400" dirty="0"/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63CF8273-8644-010C-82BE-6948F8D6C5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EBF7D3-EC7A-D782-3FD2-6FE6F5F10A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64254577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004C52E2-346E-B548-6185-51F72851E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1CE9866D-58FA-4C41-E2CA-833AC8080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782" y="0"/>
            <a:ext cx="8520600" cy="5817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/>
              <a:t>Архітектура створеного програмного забезпечення</a:t>
            </a:r>
            <a:endParaRPr sz="3200" dirty="0"/>
          </a:p>
        </p:txBody>
      </p:sp>
      <p:sp>
        <p:nvSpPr>
          <p:cNvPr id="100" name="Google Shape;100;p18">
            <a:extLst>
              <a:ext uri="{FF2B5EF4-FFF2-40B4-BE49-F238E27FC236}">
                <a16:creationId xmlns:a16="http://schemas.microsoft.com/office/drawing/2014/main" id="{40FFD204-8961-B19C-8110-33C53526B5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20047" y="641386"/>
            <a:ext cx="1291975" cy="697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just">
              <a:buNone/>
            </a:pPr>
            <a:r>
              <a:rPr lang="uk-UA" sz="1400" b="1" dirty="0" err="1"/>
              <a:t>Use</a:t>
            </a:r>
            <a:r>
              <a:rPr lang="uk-UA" sz="1400" b="1" dirty="0"/>
              <a:t> </a:t>
            </a:r>
            <a:r>
              <a:rPr lang="uk-UA" sz="1400" b="1" dirty="0" err="1"/>
              <a:t>Case</a:t>
            </a:r>
            <a:endParaRPr lang="uk-UA" sz="1400" b="1" dirty="0"/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B48700AA-D14A-473D-A22D-BD9D57E62B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2289AD-5269-19D2-DFCE-887F9C9791CE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sp>
        <p:nvSpPr>
          <p:cNvPr id="3" name="Google Shape;100;p18">
            <a:extLst>
              <a:ext uri="{FF2B5EF4-FFF2-40B4-BE49-F238E27FC236}">
                <a16:creationId xmlns:a16="http://schemas.microsoft.com/office/drawing/2014/main" id="{955624CE-16FF-B692-8A0C-A67C60893988}"/>
              </a:ext>
            </a:extLst>
          </p:cNvPr>
          <p:cNvSpPr txBox="1">
            <a:spLocks/>
          </p:cNvSpPr>
          <p:nvPr/>
        </p:nvSpPr>
        <p:spPr>
          <a:xfrm>
            <a:off x="5811190" y="641386"/>
            <a:ext cx="2451540" cy="69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 algn="just">
              <a:buFont typeface="Open Sans"/>
              <a:buNone/>
            </a:pPr>
            <a:r>
              <a:rPr lang="uk-UA" sz="1400" b="1" dirty="0"/>
              <a:t>Діаграма класів</a:t>
            </a:r>
          </a:p>
        </p:txBody>
      </p:sp>
      <p:pic>
        <p:nvPicPr>
          <p:cNvPr id="4" name="image19.png">
            <a:extLst>
              <a:ext uri="{FF2B5EF4-FFF2-40B4-BE49-F238E27FC236}">
                <a16:creationId xmlns:a16="http://schemas.microsoft.com/office/drawing/2014/main" id="{3EFAB25F-CC35-E86F-C2DC-2AE78C06F2AC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01757" y="1159079"/>
            <a:ext cx="3528556" cy="3200421"/>
          </a:xfrm>
          <a:prstGeom prst="rect">
            <a:avLst/>
          </a:prstGeom>
          <a:ln/>
        </p:spPr>
      </p:pic>
      <p:pic>
        <p:nvPicPr>
          <p:cNvPr id="5" name="image20.png">
            <a:extLst>
              <a:ext uri="{FF2B5EF4-FFF2-40B4-BE49-F238E27FC236}">
                <a16:creationId xmlns:a16="http://schemas.microsoft.com/office/drawing/2014/main" id="{234C16EE-1F95-8D16-C6CD-E801685CAF6D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4401481" y="1121842"/>
            <a:ext cx="4390901" cy="338027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2812778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699" y="312400"/>
            <a:ext cx="8703511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252349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14300" indent="0">
              <a:buNone/>
            </a:pPr>
            <a:r>
              <a:rPr lang="uk-UA" sz="1600" dirty="0">
                <a:highlight>
                  <a:srgbClr val="FFFFFF"/>
                </a:highlight>
              </a:rPr>
              <a:t>Розробка клієнтської частини виконувалася з урахуванням принципів модульності, масштабованості та розмежування обов'язків. Процес складався з таких етапів: аналіз вимог, проєктування архітектури та UML-діаграм, реалізація клієнтської логіки, інтеграція з REST API та тестування.</a:t>
            </a:r>
          </a:p>
          <a:p>
            <a:pPr marL="114300" indent="0">
              <a:buNone/>
            </a:pPr>
            <a:endParaRPr lang="uk-UA" sz="1600" dirty="0">
              <a:highlight>
                <a:srgbClr val="FFFFFF"/>
              </a:highlight>
            </a:endParaRPr>
          </a:p>
          <a:p>
            <a:pPr marL="114300" indent="0">
              <a:buNone/>
            </a:pPr>
            <a:r>
              <a:rPr lang="uk-UA" sz="1600" dirty="0">
                <a:highlight>
                  <a:srgbClr val="FFFFFF"/>
                </a:highlight>
              </a:rPr>
              <a:t>Використані інструменти та технології:</a:t>
            </a:r>
          </a:p>
          <a:p>
            <a:r>
              <a:rPr lang="uk-UA" sz="1600" b="1" dirty="0" err="1">
                <a:highlight>
                  <a:srgbClr val="FFFFFF"/>
                </a:highlight>
              </a:rPr>
              <a:t>Visual</a:t>
            </a:r>
            <a:r>
              <a:rPr lang="uk-UA" sz="1600" b="1" dirty="0">
                <a:highlight>
                  <a:srgbClr val="FFFFFF"/>
                </a:highlight>
              </a:rPr>
              <a:t> </a:t>
            </a:r>
            <a:r>
              <a:rPr lang="uk-UA" sz="1600" b="1" dirty="0" err="1">
                <a:highlight>
                  <a:srgbClr val="FFFFFF"/>
                </a:highlight>
              </a:rPr>
              <a:t>Studio</a:t>
            </a:r>
            <a:r>
              <a:rPr lang="uk-UA" sz="1600" b="1" dirty="0">
                <a:highlight>
                  <a:srgbClr val="FFFFFF"/>
                </a:highlight>
              </a:rPr>
              <a:t> </a:t>
            </a:r>
            <a:r>
              <a:rPr lang="uk-UA" sz="1600" b="1" dirty="0" err="1">
                <a:highlight>
                  <a:srgbClr val="FFFFFF"/>
                </a:highlight>
              </a:rPr>
              <a:t>Code</a:t>
            </a:r>
            <a:r>
              <a:rPr lang="uk-UA" sz="1600" dirty="0">
                <a:highlight>
                  <a:srgbClr val="FFFFFF"/>
                </a:highlight>
              </a:rPr>
              <a:t> — середовище розробки;</a:t>
            </a:r>
          </a:p>
          <a:p>
            <a:r>
              <a:rPr lang="uk-UA" sz="1600" b="1" dirty="0" err="1">
                <a:highlight>
                  <a:srgbClr val="FFFFFF"/>
                </a:highlight>
              </a:rPr>
              <a:t>React</a:t>
            </a:r>
            <a:r>
              <a:rPr lang="uk-UA" sz="1600" b="1" dirty="0">
                <a:highlight>
                  <a:srgbClr val="FFFFFF"/>
                </a:highlight>
              </a:rPr>
              <a:t> + </a:t>
            </a:r>
            <a:r>
              <a:rPr lang="uk-UA" sz="1600" b="1" dirty="0" err="1">
                <a:highlight>
                  <a:srgbClr val="FFFFFF"/>
                </a:highlight>
              </a:rPr>
              <a:t>TypeScript</a:t>
            </a:r>
            <a:r>
              <a:rPr lang="uk-UA" sz="1600" dirty="0">
                <a:highlight>
                  <a:srgbClr val="FFFFFF"/>
                </a:highlight>
              </a:rPr>
              <a:t> — бібліотека та мова програмування для створення інтерфейсу з </a:t>
            </a:r>
            <a:r>
              <a:rPr lang="uk-UA" sz="1600" dirty="0" err="1">
                <a:highlight>
                  <a:srgbClr val="FFFFFF"/>
                </a:highlight>
              </a:rPr>
              <a:t>типобезпекою</a:t>
            </a:r>
            <a:r>
              <a:rPr lang="uk-UA" sz="1600" dirty="0">
                <a:highlight>
                  <a:srgbClr val="FFFFFF"/>
                </a:highlight>
              </a:rPr>
              <a:t>;</a:t>
            </a:r>
          </a:p>
          <a:p>
            <a:r>
              <a:rPr lang="uk-UA" sz="1600" b="1" dirty="0" err="1">
                <a:highlight>
                  <a:srgbClr val="FFFFFF"/>
                </a:highlight>
              </a:rPr>
              <a:t>Vite</a:t>
            </a:r>
            <a:r>
              <a:rPr lang="uk-UA" sz="1600" dirty="0">
                <a:highlight>
                  <a:srgbClr val="FFFFFF"/>
                </a:highlight>
              </a:rPr>
              <a:t> — сучасний збірник і середовище розробки для </a:t>
            </a:r>
            <a:r>
              <a:rPr lang="uk-UA" sz="1600" dirty="0" err="1">
                <a:highlight>
                  <a:srgbClr val="FFFFFF"/>
                </a:highlight>
              </a:rPr>
              <a:t>фронтенду</a:t>
            </a:r>
            <a:r>
              <a:rPr lang="uk-UA" sz="1600" dirty="0">
                <a:highlight>
                  <a:srgbClr val="FFFFFF"/>
                </a:highlight>
              </a:rPr>
              <a:t> з підтримкою гарячого перезавантаження;</a:t>
            </a:r>
          </a:p>
          <a:p>
            <a:r>
              <a:rPr lang="uk-UA" sz="1600" b="1" dirty="0" err="1">
                <a:highlight>
                  <a:srgbClr val="FFFFFF"/>
                </a:highlight>
              </a:rPr>
              <a:t>Redux</a:t>
            </a:r>
            <a:r>
              <a:rPr lang="uk-UA" sz="1600" b="1" dirty="0">
                <a:highlight>
                  <a:srgbClr val="FFFFFF"/>
                </a:highlight>
              </a:rPr>
              <a:t> </a:t>
            </a:r>
            <a:r>
              <a:rPr lang="uk-UA" sz="1600" b="1" dirty="0" err="1">
                <a:highlight>
                  <a:srgbClr val="FFFFFF"/>
                </a:highlight>
              </a:rPr>
              <a:t>Toolkit</a:t>
            </a:r>
            <a:r>
              <a:rPr lang="uk-UA" sz="1600" dirty="0">
                <a:highlight>
                  <a:srgbClr val="FFFFFF"/>
                </a:highlight>
              </a:rPr>
              <a:t> — бібліотека для централізованого управління станом застосунку;</a:t>
            </a:r>
          </a:p>
          <a:p>
            <a:r>
              <a:rPr lang="uk-UA" sz="1600" b="1" dirty="0" err="1">
                <a:highlight>
                  <a:srgbClr val="FFFFFF"/>
                </a:highlight>
              </a:rPr>
              <a:t>Axios</a:t>
            </a:r>
            <a:r>
              <a:rPr lang="uk-UA" sz="1600" dirty="0">
                <a:highlight>
                  <a:srgbClr val="FFFFFF"/>
                </a:highlight>
              </a:rPr>
              <a:t> — клієнт для виконання HTTP-запитів до серверного REST API;</a:t>
            </a:r>
          </a:p>
          <a:p>
            <a:r>
              <a:rPr lang="uk-UA" sz="1600" b="1" dirty="0">
                <a:highlight>
                  <a:srgbClr val="FFFFFF"/>
                </a:highlight>
              </a:rPr>
              <a:t>@microsoft/signalr</a:t>
            </a:r>
            <a:r>
              <a:rPr lang="uk-UA" sz="1600" dirty="0">
                <a:highlight>
                  <a:srgbClr val="FFFFFF"/>
                </a:highlight>
              </a:rPr>
              <a:t> — обмін повідомленнями в реальному часі через </a:t>
            </a:r>
            <a:r>
              <a:rPr lang="uk-UA" sz="1600" dirty="0" err="1">
                <a:highlight>
                  <a:srgbClr val="FFFFFF"/>
                </a:highlight>
              </a:rPr>
              <a:t>WebSocket</a:t>
            </a:r>
            <a:r>
              <a:rPr lang="uk-UA" sz="1600" dirty="0">
                <a:highlight>
                  <a:srgbClr val="FFFFFF"/>
                </a:highlight>
              </a:rPr>
              <a:t>;</a:t>
            </a:r>
          </a:p>
          <a:p>
            <a:r>
              <a:rPr lang="uk-UA" sz="1600" b="1" dirty="0" err="1">
                <a:highlight>
                  <a:srgbClr val="FFFFFF"/>
                </a:highlight>
              </a:rPr>
              <a:t>Git</a:t>
            </a:r>
            <a:r>
              <a:rPr lang="uk-UA" sz="1600" b="1" dirty="0">
                <a:highlight>
                  <a:srgbClr val="FFFFFF"/>
                </a:highlight>
              </a:rPr>
              <a:t> / </a:t>
            </a:r>
            <a:r>
              <a:rPr lang="uk-UA" sz="1600" b="1" dirty="0" err="1">
                <a:highlight>
                  <a:srgbClr val="FFFFFF"/>
                </a:highlight>
              </a:rPr>
              <a:t>GitHub</a:t>
            </a:r>
            <a:r>
              <a:rPr lang="uk-UA" sz="1600" dirty="0">
                <a:highlight>
                  <a:srgbClr val="FFFFFF"/>
                </a:highlight>
              </a:rPr>
              <a:t> — система контролю версій та зберігання вихідного коду проєкту.</a:t>
            </a:r>
          </a:p>
          <a:p>
            <a:endParaRPr lang="uk-UA" sz="1600" dirty="0">
              <a:highlight>
                <a:srgbClr val="FFFFFF"/>
              </a:highlight>
            </a:endParaRPr>
          </a:p>
          <a:p>
            <a:pPr marL="114300" indent="0">
              <a:buNone/>
            </a:pPr>
            <a:r>
              <a:rPr lang="uk-UA" sz="1600" dirty="0">
                <a:highlight>
                  <a:srgbClr val="FFFFFF"/>
                </a:highlight>
              </a:rPr>
              <a:t>Для перевірки </a:t>
            </a:r>
            <a:r>
              <a:rPr lang="uk-UA" sz="1600" dirty="0" err="1">
                <a:highlight>
                  <a:srgbClr val="FFFFFF"/>
                </a:highlight>
              </a:rPr>
              <a:t>типобезпеки</a:t>
            </a:r>
            <a:r>
              <a:rPr lang="uk-UA" sz="1600" dirty="0">
                <a:highlight>
                  <a:srgbClr val="FFFFFF"/>
                </a:highlight>
              </a:rPr>
              <a:t> та якості коду перед збиранням застосовано команду </a:t>
            </a:r>
            <a:r>
              <a:rPr lang="uk-UA" sz="1600" dirty="0" err="1">
                <a:highlight>
                  <a:srgbClr val="FFFFFF"/>
                </a:highlight>
              </a:rPr>
              <a:t>tsc</a:t>
            </a:r>
            <a:r>
              <a:rPr lang="uk-UA" sz="1600" dirty="0">
                <a:highlight>
                  <a:srgbClr val="FFFFFF"/>
                </a:highlight>
              </a:rPr>
              <a:t> -b, що блокує потрапляння помилок типізації у </a:t>
            </a:r>
            <a:r>
              <a:rPr lang="uk-UA" sz="1600" dirty="0" err="1">
                <a:highlight>
                  <a:srgbClr val="FFFFFF"/>
                </a:highlight>
              </a:rPr>
              <a:t>продакшн</a:t>
            </a:r>
            <a:r>
              <a:rPr lang="uk-UA" sz="1600" dirty="0">
                <a:highlight>
                  <a:srgbClr val="FFFFFF"/>
                </a:highlight>
              </a:rPr>
              <a:t>-збірку, а також </a:t>
            </a:r>
            <a:r>
              <a:rPr lang="uk-UA" sz="1600" dirty="0" err="1">
                <a:highlight>
                  <a:srgbClr val="FFFFFF"/>
                </a:highlight>
              </a:rPr>
              <a:t>лінтер</a:t>
            </a:r>
            <a:r>
              <a:rPr lang="uk-UA" sz="1600" dirty="0">
                <a:highlight>
                  <a:srgbClr val="FFFFFF"/>
                </a:highlight>
              </a:rPr>
              <a:t> </a:t>
            </a:r>
            <a:r>
              <a:rPr lang="uk-UA" sz="1600" dirty="0" err="1">
                <a:highlight>
                  <a:srgbClr val="FFFFFF"/>
                </a:highlight>
              </a:rPr>
              <a:t>ESLint</a:t>
            </a:r>
            <a:r>
              <a:rPr lang="uk-UA" sz="1600" dirty="0">
                <a:highlight>
                  <a:srgbClr val="FFFFFF"/>
                </a:highlight>
              </a:rPr>
              <a:t> для дотримання єдиного стилю коду.</a:t>
            </a: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639135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r>
              <a:rPr lang="uk-UA" b="1" dirty="0"/>
              <a:t>Методи.</a:t>
            </a:r>
            <a:r>
              <a:rPr lang="uk-UA" dirty="0"/>
              <a:t> Для розробки дизайну системи використовувалися принципи модульності та компонентного підходу, що забезпечують простоту підтримки та масштабованість. Особлива увага приділялася чіткому розмежуванню </a:t>
            </a:r>
            <a:r>
              <a:rPr lang="uk-UA" dirty="0" err="1"/>
              <a:t>відповідальностей</a:t>
            </a:r>
            <a:r>
              <a:rPr lang="uk-UA" dirty="0"/>
              <a:t> між компонентами інтерфейсу та логікою управління станом.</a:t>
            </a:r>
          </a:p>
          <a:p>
            <a:r>
              <a:rPr lang="uk-UA" b="1" dirty="0"/>
              <a:t>Послідовність.</a:t>
            </a:r>
            <a:r>
              <a:rPr lang="uk-UA" dirty="0"/>
              <a:t> Процес проєктування системи починався з аналізу вимог, після чого створювалися UML-діаграми та архітектурні схеми. Наступним кроком було розроблення компонентів інтерфейсу та інтеграція з </a:t>
            </a:r>
            <a:r>
              <a:rPr lang="uk-UA" dirty="0" err="1"/>
              <a:t>бекендом</a:t>
            </a:r>
            <a:r>
              <a:rPr lang="uk-UA" dirty="0"/>
              <a:t> через REST API, що забезпечило плавну взаємодію між клієнтом і сервером.</a:t>
            </a:r>
          </a:p>
          <a:p>
            <a:r>
              <a:rPr lang="uk-UA" b="1" dirty="0"/>
              <a:t>Технології.</a:t>
            </a:r>
            <a:r>
              <a:rPr lang="uk-UA" dirty="0"/>
              <a:t> Дизайн системи реалізовано із застосуванням </a:t>
            </a:r>
            <a:r>
              <a:rPr lang="uk-UA" dirty="0" err="1"/>
              <a:t>React</a:t>
            </a:r>
            <a:r>
              <a:rPr lang="uk-UA" dirty="0"/>
              <a:t> з </a:t>
            </a:r>
            <a:r>
              <a:rPr lang="uk-UA" dirty="0" err="1"/>
              <a:t>TypeScript</a:t>
            </a:r>
            <a:r>
              <a:rPr lang="uk-UA" dirty="0"/>
              <a:t> для створення UI-компонентів, </a:t>
            </a:r>
            <a:r>
              <a:rPr lang="uk-UA" dirty="0" err="1"/>
              <a:t>Vite</a:t>
            </a:r>
            <a:r>
              <a:rPr lang="uk-UA" dirty="0"/>
              <a:t> як інструменту для збірки проєкту, </a:t>
            </a:r>
            <a:r>
              <a:rPr lang="uk-UA" dirty="0" err="1"/>
              <a:t>Redux</a:t>
            </a:r>
            <a:r>
              <a:rPr lang="uk-UA" dirty="0"/>
              <a:t> </a:t>
            </a:r>
            <a:r>
              <a:rPr lang="uk-UA" dirty="0" err="1"/>
              <a:t>Toolkit</a:t>
            </a:r>
            <a:r>
              <a:rPr lang="uk-UA" dirty="0"/>
              <a:t> для централізованого управління станом та </a:t>
            </a:r>
            <a:r>
              <a:rPr lang="uk-UA" dirty="0" err="1"/>
              <a:t>Axios</a:t>
            </a:r>
            <a:r>
              <a:rPr lang="uk-UA" dirty="0"/>
              <a:t> для роботи з HTTP-запитами до сервера. Інтерфейс адаптивний з підтримкою мобільних пристроїв, планшетів та настільних комп'ютерів, а навігація забезпечує доступ до ключових функцій не більше ніж за три кліки.</a:t>
            </a: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D658E-E8E1-7CF3-9D36-5BCA521BE26B}"/>
              </a:ext>
            </a:extLst>
          </p:cNvPr>
          <p:cNvSpPr txBox="1"/>
          <p:nvPr/>
        </p:nvSpPr>
        <p:spPr>
          <a:xfrm>
            <a:off x="257640" y="594172"/>
            <a:ext cx="8520600" cy="732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chemeClr val="dk1"/>
              </a:buClr>
              <a:buSzPts val="1800"/>
            </a:pPr>
            <a:r>
              <a:rPr lang="uk-UA" sz="1800" dirty="0"/>
              <a:t>Пошук користувачів за </a:t>
            </a:r>
            <a:r>
              <a:rPr lang="uk-UA" sz="1800" dirty="0" err="1"/>
              <a:t>нікнеймом</a:t>
            </a:r>
            <a:r>
              <a:rPr lang="uk-UA" sz="1800" dirty="0"/>
              <a:t> через модуль </a:t>
            </a:r>
            <a:r>
              <a:rPr lang="uk-UA" sz="1800" dirty="0" err="1"/>
              <a:t>discover</a:t>
            </a:r>
            <a:r>
              <a:rPr lang="uk-UA" sz="1800" dirty="0"/>
              <a:t>, надсилання й прийняття запитів у друзі, відображення поточного статусу дружби.</a:t>
            </a:r>
            <a:endParaRPr lang="uk-UA" sz="1700" dirty="0">
              <a:solidFill>
                <a:srgbClr val="0D0D0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5F4E52-56AA-5DC3-DA4A-4EEB8E3C3E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68" y="1709521"/>
            <a:ext cx="3127307" cy="21076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00900A-242E-AB60-5B24-4ED5A8E34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346" y="1709521"/>
            <a:ext cx="4819043" cy="1153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CCBFB1-FCFE-3DB9-612A-C1DE413FAD13}"/>
              </a:ext>
            </a:extLst>
          </p:cNvPr>
          <p:cNvSpPr txBox="1"/>
          <p:nvPr/>
        </p:nvSpPr>
        <p:spPr>
          <a:xfrm>
            <a:off x="1371600" y="1401744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Результат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5C84C8-A0D3-80EE-A2F3-DF48F44D9374}"/>
              </a:ext>
            </a:extLst>
          </p:cNvPr>
          <p:cNvSpPr txBox="1"/>
          <p:nvPr/>
        </p:nvSpPr>
        <p:spPr>
          <a:xfrm>
            <a:off x="5877338" y="1364052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Код</a:t>
            </a:r>
          </a:p>
        </p:txBody>
      </p:sp>
    </p:spTree>
    <p:extLst>
      <p:ext uri="{BB962C8B-B14F-4D97-AF65-F5344CB8AC3E}">
        <p14:creationId xmlns:p14="http://schemas.microsoft.com/office/powerpoint/2010/main" val="2994007464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4FBD723-F644-061E-C5CE-8340F748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EFC32D0B-3568-CBFA-BCE9-5F131CB0CC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62B345B8-52B6-F2F5-99E4-E7669A60AB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19930B-7263-2430-53F7-AEA286EAC2E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7A669-58BB-CF05-6B2D-D19F884B5D6C}"/>
              </a:ext>
            </a:extLst>
          </p:cNvPr>
          <p:cNvSpPr txBox="1"/>
          <p:nvPr/>
        </p:nvSpPr>
        <p:spPr>
          <a:xfrm>
            <a:off x="257640" y="594172"/>
            <a:ext cx="8520600" cy="732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chemeClr val="dk1"/>
              </a:buClr>
              <a:buSzPts val="1800"/>
            </a:pPr>
            <a:r>
              <a:rPr lang="uk-UA" sz="1800" dirty="0"/>
              <a:t>Обмін повідомленнями через @microsoft/signalr поверх </a:t>
            </a:r>
            <a:r>
              <a:rPr lang="uk-UA" sz="1800" dirty="0" err="1"/>
              <a:t>WebSocket</a:t>
            </a:r>
            <a:r>
              <a:rPr lang="uk-UA" sz="1800" dirty="0"/>
              <a:t>, індикатор набору тексту, автоматичне </a:t>
            </a:r>
            <a:r>
              <a:rPr lang="uk-UA" sz="1800" dirty="0" err="1"/>
              <a:t>перепідключення</a:t>
            </a:r>
            <a:r>
              <a:rPr lang="uk-UA" sz="1800" dirty="0"/>
              <a:t> при розриві зв'язку.</a:t>
            </a:r>
            <a:endParaRPr lang="uk-UA" sz="1700" dirty="0">
              <a:solidFill>
                <a:srgbClr val="0D0D0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48A488-75AB-7CAE-26A1-1D70A45AC3CB}"/>
              </a:ext>
            </a:extLst>
          </p:cNvPr>
          <p:cNvSpPr txBox="1"/>
          <p:nvPr/>
        </p:nvSpPr>
        <p:spPr>
          <a:xfrm>
            <a:off x="1371600" y="1401744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Результат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0B65F-A667-2DFE-04FE-379095A04E16}"/>
              </a:ext>
            </a:extLst>
          </p:cNvPr>
          <p:cNvSpPr txBox="1"/>
          <p:nvPr/>
        </p:nvSpPr>
        <p:spPr>
          <a:xfrm>
            <a:off x="5877338" y="1364052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Код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9CA176-EA4D-C0BC-7D17-8F29EF35A4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25" y="1784906"/>
            <a:ext cx="3912136" cy="209782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4E402D0-E95B-99BD-83AA-FEA3D2F00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264" y="1852064"/>
            <a:ext cx="4314825" cy="158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665165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9DAF6F9F-4BD6-A239-14AE-0C444F36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C665CE0B-EBCC-F9D0-EEDA-534AAE3148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CB0D5A27-6B63-C14C-D503-7B90AC1D7E0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466094-AFF3-5BCB-F588-F1762734D5B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15</a:t>
            </a:fld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C6AFC4-D6AF-8EFB-4122-295122A1A152}"/>
              </a:ext>
            </a:extLst>
          </p:cNvPr>
          <p:cNvSpPr txBox="1"/>
          <p:nvPr/>
        </p:nvSpPr>
        <p:spPr>
          <a:xfrm>
            <a:off x="257640" y="594172"/>
            <a:ext cx="8520600" cy="732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chemeClr val="dk1"/>
              </a:buClr>
              <a:buSzPts val="1800"/>
            </a:pPr>
            <a:r>
              <a:rPr lang="uk-UA" sz="1800" dirty="0">
                <a:highlight>
                  <a:srgbClr val="FFFFFF"/>
                </a:highlight>
              </a:rPr>
              <a:t>Персоналізовані рекомендації груп на основі інтересів, вступ/вихід, груповий чат із </a:t>
            </a:r>
            <a:r>
              <a:rPr lang="uk-UA" sz="1800" dirty="0" err="1">
                <a:highlight>
                  <a:srgbClr val="FFFFFF"/>
                </a:highlight>
              </a:rPr>
              <a:t>відеодзвінками</a:t>
            </a:r>
            <a:r>
              <a:rPr lang="uk-UA" sz="1800" dirty="0">
                <a:highlight>
                  <a:srgbClr val="FFFFFF"/>
                </a:highlight>
              </a:rPr>
              <a:t> через </a:t>
            </a:r>
            <a:r>
              <a:rPr lang="uk-UA" sz="1800" dirty="0" err="1">
                <a:highlight>
                  <a:srgbClr val="FFFFFF"/>
                </a:highlight>
              </a:rPr>
              <a:t>Jitsi</a:t>
            </a:r>
            <a:r>
              <a:rPr lang="uk-UA" sz="1800" dirty="0">
                <a:highlight>
                  <a:srgbClr val="FFFFFF"/>
                </a:highlight>
              </a:rPr>
              <a:t> </a:t>
            </a:r>
            <a:r>
              <a:rPr lang="uk-UA" sz="1800" dirty="0" err="1">
                <a:highlight>
                  <a:srgbClr val="FFFFFF"/>
                </a:highlight>
              </a:rPr>
              <a:t>Meet</a:t>
            </a:r>
            <a:r>
              <a:rPr lang="uk-UA" sz="1800" dirty="0">
                <a:highlight>
                  <a:srgbClr val="FFFFFF"/>
                </a:highlight>
              </a:rPr>
              <a:t>.</a:t>
            </a:r>
            <a:endParaRPr lang="uk-UA" sz="1700" dirty="0">
              <a:solidFill>
                <a:srgbClr val="0D0D0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ACB0A-D932-28F2-C3A7-F359C00D17F5}"/>
              </a:ext>
            </a:extLst>
          </p:cNvPr>
          <p:cNvSpPr txBox="1"/>
          <p:nvPr/>
        </p:nvSpPr>
        <p:spPr>
          <a:xfrm>
            <a:off x="1371600" y="1401744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Результат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2EC74-32C4-3C4F-FAEF-F87ED15151A7}"/>
              </a:ext>
            </a:extLst>
          </p:cNvPr>
          <p:cNvSpPr txBox="1"/>
          <p:nvPr/>
        </p:nvSpPr>
        <p:spPr>
          <a:xfrm>
            <a:off x="5877338" y="1364052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Код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7A8572-27ED-7E83-D637-6C8289F212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44" y="1784905"/>
            <a:ext cx="3142624" cy="233032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270C9D-5F72-4BB0-58FE-41D44B8D4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6180" y="1784905"/>
            <a:ext cx="4816474" cy="147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00366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19BA270D-DBCB-96FE-805F-70CA45BE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593B2F1E-283E-97DE-DD17-41F5B701D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A82FE37D-5BA3-488F-4E6E-D644CB98D5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C0A8AB-56B2-70C7-10FE-D3BD4259ADA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16</a:t>
            </a:fld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E2E8C9-44F8-2D96-95ED-C25675469E78}"/>
              </a:ext>
            </a:extLst>
          </p:cNvPr>
          <p:cNvSpPr txBox="1"/>
          <p:nvPr/>
        </p:nvSpPr>
        <p:spPr>
          <a:xfrm>
            <a:off x="257640" y="594172"/>
            <a:ext cx="8520600" cy="732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chemeClr val="dk1"/>
              </a:buClr>
              <a:buSzPts val="1800"/>
            </a:pPr>
            <a:r>
              <a:rPr lang="uk-UA" sz="1800" dirty="0"/>
              <a:t>Створення подій з прив'язкою до місця проведення, приєднання та вихід із події.</a:t>
            </a:r>
            <a:endParaRPr lang="uk-UA" sz="1700" dirty="0">
              <a:solidFill>
                <a:srgbClr val="0D0D0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CF573C-9E8D-E47C-EDB8-01CCA07300C4}"/>
              </a:ext>
            </a:extLst>
          </p:cNvPr>
          <p:cNvSpPr txBox="1"/>
          <p:nvPr/>
        </p:nvSpPr>
        <p:spPr>
          <a:xfrm>
            <a:off x="1371600" y="1401744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Результат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794F9-5F4C-2A4C-8E40-736391DE935F}"/>
              </a:ext>
            </a:extLst>
          </p:cNvPr>
          <p:cNvSpPr txBox="1"/>
          <p:nvPr/>
        </p:nvSpPr>
        <p:spPr>
          <a:xfrm>
            <a:off x="5877338" y="1364052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Код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A8D62B-E483-3A2B-C2A1-A4EA3EE4CF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25" y="1884675"/>
            <a:ext cx="3822210" cy="20324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DEE7499-D517-31CC-1761-60ADF843B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206" y="1884675"/>
            <a:ext cx="4438291" cy="179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95549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8CCB1E99-0CB6-C361-5CA6-C54C1FEC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9B98A88C-1A81-19FF-D2C4-DE0A6D9B4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9ECEFA71-D9D4-C5EF-E905-00202BBF10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D54506-6373-5EFA-7764-01A8CF011F8C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17</a:t>
            </a:fld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7548D-677B-A111-7968-411918176A97}"/>
              </a:ext>
            </a:extLst>
          </p:cNvPr>
          <p:cNvSpPr txBox="1"/>
          <p:nvPr/>
        </p:nvSpPr>
        <p:spPr>
          <a:xfrm>
            <a:off x="257640" y="594172"/>
            <a:ext cx="8520600" cy="732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chemeClr val="dk1"/>
              </a:buClr>
              <a:buSzPts val="1800"/>
            </a:pPr>
            <a:r>
              <a:rPr lang="uk-UA" sz="1800" dirty="0"/>
              <a:t>С	</a:t>
            </a:r>
            <a:r>
              <a:rPr lang="uk-UA" sz="1800" dirty="0" err="1"/>
              <a:t>истема</a:t>
            </a:r>
            <a:r>
              <a:rPr lang="uk-UA" sz="1800" dirty="0"/>
              <a:t> щоденних і тижневих завдань, нарахування балів за виконання, перевірка статусу виконання перед запитом на сервер.</a:t>
            </a:r>
            <a:endParaRPr lang="uk-UA" sz="1700" dirty="0">
              <a:solidFill>
                <a:srgbClr val="0D0D0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7299E-5E3C-CCC3-E2F9-ADFF9C3A8DDC}"/>
              </a:ext>
            </a:extLst>
          </p:cNvPr>
          <p:cNvSpPr txBox="1"/>
          <p:nvPr/>
        </p:nvSpPr>
        <p:spPr>
          <a:xfrm>
            <a:off x="1371600" y="1401744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Результат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C826C2-CD2B-7C0E-2A19-CA712C969EBE}"/>
              </a:ext>
            </a:extLst>
          </p:cNvPr>
          <p:cNvSpPr txBox="1"/>
          <p:nvPr/>
        </p:nvSpPr>
        <p:spPr>
          <a:xfrm>
            <a:off x="5877338" y="1364052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Код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D7BDAF-D417-C31F-06CE-300A6F00EE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22" y="1991465"/>
            <a:ext cx="3215518" cy="171997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0C8DEA5-7C8E-1133-4220-EBCF7F070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644" y="1812029"/>
            <a:ext cx="4440945" cy="230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3023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F1E55ECB-8EBC-ED43-E407-5A151851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46AB0319-204D-9845-F803-3D26EAEB87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E6AC703B-B427-F212-A304-F7E1A4B692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4D22C5-9C6E-030A-FC57-E9130262B2D0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18</a:t>
            </a:fld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C76C5-C5C4-0F3E-DD83-19574F4A1507}"/>
              </a:ext>
            </a:extLst>
          </p:cNvPr>
          <p:cNvSpPr txBox="1"/>
          <p:nvPr/>
        </p:nvSpPr>
        <p:spPr>
          <a:xfrm>
            <a:off x="257640" y="594172"/>
            <a:ext cx="8520600" cy="732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chemeClr val="dk1"/>
              </a:buClr>
              <a:buSzPts val="1800"/>
            </a:pPr>
            <a:r>
              <a:rPr lang="uk-UA" sz="1800" dirty="0"/>
              <a:t>Створення публікацій з текстом і зображенням через </a:t>
            </a:r>
            <a:r>
              <a:rPr lang="uk-UA" sz="1800" dirty="0" err="1"/>
              <a:t>multipart</a:t>
            </a:r>
            <a:r>
              <a:rPr lang="uk-UA" sz="1800" dirty="0"/>
              <a:t>/</a:t>
            </a:r>
            <a:r>
              <a:rPr lang="uk-UA" sz="1800" dirty="0" err="1"/>
              <a:t>form-data</a:t>
            </a:r>
            <a:r>
              <a:rPr lang="uk-UA" sz="1800" dirty="0"/>
              <a:t>, лайки/</a:t>
            </a:r>
            <a:r>
              <a:rPr lang="uk-UA" sz="1800" dirty="0" err="1"/>
              <a:t>анлайки</a:t>
            </a:r>
            <a:r>
              <a:rPr lang="uk-UA" sz="1800" dirty="0"/>
              <a:t> постів, перегляд постів конкретного користувача.</a:t>
            </a:r>
            <a:endParaRPr lang="uk-UA" sz="1700" dirty="0">
              <a:solidFill>
                <a:srgbClr val="0D0D0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778265-3935-89BC-36F6-0AA87B2F7D82}"/>
              </a:ext>
            </a:extLst>
          </p:cNvPr>
          <p:cNvSpPr txBox="1"/>
          <p:nvPr/>
        </p:nvSpPr>
        <p:spPr>
          <a:xfrm>
            <a:off x="1371600" y="1401744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Результат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61C149-AC4D-8338-AD22-65432A251397}"/>
              </a:ext>
            </a:extLst>
          </p:cNvPr>
          <p:cNvSpPr txBox="1"/>
          <p:nvPr/>
        </p:nvSpPr>
        <p:spPr>
          <a:xfrm>
            <a:off x="5877338" y="1364052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Код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CD63A3-A131-21C9-D8D1-A8ED8CD39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877" y="1827284"/>
            <a:ext cx="4218648" cy="188332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74A0524-2F5D-053D-582E-45BC1BED7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87" y="1784905"/>
            <a:ext cx="2905586" cy="229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94297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2B8F4D31-A3D2-CA2A-8043-773A5E55A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17A66FA0-39CB-6E12-AD46-36C389A595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B2DFC4DE-BD9F-BC7A-9597-37DC464BAAC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3D0121-E28C-594A-5FCE-81DB1B12AD9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19</a:t>
            </a:fld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4FCCE-9017-65A9-DD85-FB199EB0A63C}"/>
              </a:ext>
            </a:extLst>
          </p:cNvPr>
          <p:cNvSpPr txBox="1"/>
          <p:nvPr/>
        </p:nvSpPr>
        <p:spPr>
          <a:xfrm>
            <a:off x="257640" y="594172"/>
            <a:ext cx="8520600" cy="732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chemeClr val="dk1"/>
              </a:buClr>
              <a:buSzPts val="1800"/>
            </a:pPr>
            <a:r>
              <a:rPr lang="uk-UA" sz="1800" dirty="0"/>
              <a:t>Керування користувачами (блокування/розблокування), </a:t>
            </a:r>
            <a:r>
              <a:rPr lang="uk-UA" sz="1800" dirty="0" err="1"/>
              <a:t>модерація</a:t>
            </a:r>
            <a:r>
              <a:rPr lang="uk-UA" sz="1800" dirty="0"/>
              <a:t> преміум-статусів, перегляд агрегованої статистики платформи.</a:t>
            </a:r>
            <a:endParaRPr lang="uk-UA" sz="1700" dirty="0">
              <a:solidFill>
                <a:srgbClr val="0D0D0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EA6E3-44F1-06CC-08A0-C8DCC3A0B442}"/>
              </a:ext>
            </a:extLst>
          </p:cNvPr>
          <p:cNvSpPr txBox="1"/>
          <p:nvPr/>
        </p:nvSpPr>
        <p:spPr>
          <a:xfrm>
            <a:off x="1371600" y="1401744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Результат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08CA5-24C1-4260-4431-FC71B3BABECA}"/>
              </a:ext>
            </a:extLst>
          </p:cNvPr>
          <p:cNvSpPr txBox="1"/>
          <p:nvPr/>
        </p:nvSpPr>
        <p:spPr>
          <a:xfrm>
            <a:off x="5877338" y="1364052"/>
            <a:ext cx="18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ADD617-60F9-8289-EF10-37BD44A10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037" y="1671829"/>
            <a:ext cx="3219627" cy="318052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E17225F-D91E-6E46-1BF2-8E5DEC861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5" y="1814037"/>
            <a:ext cx="4264961" cy="230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5495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uk-UA" dirty="0"/>
              <a:t>У роботі спроєктовано та реалізовано клієнтську частину </a:t>
            </a:r>
            <a:r>
              <a:rPr lang="uk-UA" dirty="0" err="1"/>
              <a:t>Bokado</a:t>
            </a:r>
            <a:r>
              <a:rPr lang="uk-UA" dirty="0"/>
              <a:t> — соціальної мережі для пошуку друзів за інтересами та місцем проживання. Виконано повний цикл розробки: аналіз ринку та конкурентного середовища, формування функціональних і нефункціональних вимог, проєктування архітектури клієнтської частини та моделі даних, реалізацію застосунку відповідно до сформованих вимог, його тестування та розгортання продукту в інтернеті.</a:t>
            </a:r>
          </a:p>
          <a:p>
            <a:pPr marL="114300" indent="0">
              <a:buNone/>
            </a:pPr>
            <a:r>
              <a:rPr lang="uk-UA" dirty="0"/>
              <a:t>Огляд найпопулярніших платформ-аналогів — </a:t>
            </a:r>
            <a:r>
              <a:rPr lang="uk-UA" dirty="0" err="1"/>
              <a:t>Tinder</a:t>
            </a:r>
            <a:r>
              <a:rPr lang="uk-UA" dirty="0"/>
              <a:t>, </a:t>
            </a:r>
            <a:r>
              <a:rPr lang="uk-UA" dirty="0" err="1"/>
              <a:t>Instagram</a:t>
            </a:r>
            <a:r>
              <a:rPr lang="uk-UA" dirty="0"/>
              <a:t> та </a:t>
            </a:r>
            <a:r>
              <a:rPr lang="uk-UA" dirty="0" err="1"/>
              <a:t>Facebook</a:t>
            </a:r>
            <a:r>
              <a:rPr lang="uk-UA" dirty="0"/>
              <a:t> — показав, що кожна з них реалізує лише окремі сценарії онлайн-комунікації: </a:t>
            </a:r>
            <a:r>
              <a:rPr lang="uk-UA" dirty="0" err="1"/>
              <a:t>Tinder</a:t>
            </a:r>
            <a:r>
              <a:rPr lang="uk-UA" dirty="0"/>
              <a:t> орієнтований виключно на романтичні знайомства без підтримки груп і подій, а </a:t>
            </a:r>
            <a:r>
              <a:rPr lang="uk-UA" dirty="0" err="1"/>
              <a:t>Instagram</a:t>
            </a:r>
            <a:r>
              <a:rPr lang="uk-UA" dirty="0"/>
              <a:t> та </a:t>
            </a:r>
            <a:r>
              <a:rPr lang="uk-UA" dirty="0" err="1"/>
              <a:t>Facebook</a:t>
            </a:r>
            <a:r>
              <a:rPr lang="uk-UA" dirty="0"/>
              <a:t> поєднують стрічку новин із рекламним контентом, через що цілеспрямований пошук людей за спільними інтересами в них ускладнений. Сегмент пошуку друзів за спільними інтересами з прив'язкою до міста й реальних подій залишається слабо охопленим — саме цю прогалину ринку закриває розроблена соціальна мережа </a:t>
            </a:r>
            <a:r>
              <a:rPr lang="uk-UA" dirty="0" err="1"/>
              <a:t>Bokado</a:t>
            </a:r>
            <a:r>
              <a:rPr lang="uk-UA" dirty="0"/>
              <a:t>.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20</a:t>
            </a:fld>
            <a:endParaRPr lang="uk-UA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uk-UA" dirty="0"/>
              <a:t>Клієнтську частину побудовано як </a:t>
            </a:r>
            <a:r>
              <a:rPr lang="uk-UA" dirty="0" err="1"/>
              <a:t>односторінковий</a:t>
            </a:r>
            <a:r>
              <a:rPr lang="uk-UA" dirty="0"/>
              <a:t> застосунок (SPA) на бібліотеці </a:t>
            </a:r>
            <a:r>
              <a:rPr lang="uk-UA" dirty="0" err="1"/>
              <a:t>React</a:t>
            </a:r>
            <a:r>
              <a:rPr lang="uk-UA" dirty="0"/>
              <a:t> 18 та мові програмування </a:t>
            </a:r>
            <a:r>
              <a:rPr lang="uk-UA" dirty="0" err="1"/>
              <a:t>TypeScript</a:t>
            </a:r>
            <a:r>
              <a:rPr lang="uk-UA" dirty="0"/>
              <a:t> зі складанням через сучасний інструмент </a:t>
            </a:r>
            <a:r>
              <a:rPr lang="uk-UA" dirty="0" err="1"/>
              <a:t>Vite</a:t>
            </a:r>
            <a:r>
              <a:rPr lang="uk-UA" dirty="0"/>
              <a:t>. Код організовано за принципом </a:t>
            </a:r>
            <a:r>
              <a:rPr lang="uk-UA" dirty="0" err="1"/>
              <a:t>Feature-Sliced</a:t>
            </a:r>
            <a:r>
              <a:rPr lang="uk-UA" dirty="0"/>
              <a:t> </a:t>
            </a:r>
            <a:r>
              <a:rPr lang="uk-UA" dirty="0" err="1"/>
              <a:t>Design</a:t>
            </a:r>
            <a:r>
              <a:rPr lang="uk-UA" dirty="0"/>
              <a:t> — розподілом на функціональні модулі (автентифікація, профіль, чати, друзі, групи, події, </a:t>
            </a:r>
            <a:r>
              <a:rPr lang="uk-UA" dirty="0" err="1"/>
              <a:t>челенджі</a:t>
            </a:r>
            <a:r>
              <a:rPr lang="uk-UA" dirty="0"/>
              <a:t>), що полегшує підтримку та подальше масштабування проєкту.</a:t>
            </a:r>
          </a:p>
          <a:p>
            <a:pPr marL="114300" indent="0">
              <a:buNone/>
            </a:pPr>
            <a:r>
              <a:rPr lang="uk-UA" dirty="0"/>
              <a:t>Глобальний стан застосунку реалізовано засобами </a:t>
            </a:r>
            <a:r>
              <a:rPr lang="uk-UA" dirty="0" err="1"/>
              <a:t>Redux</a:t>
            </a:r>
            <a:r>
              <a:rPr lang="uk-UA" dirty="0"/>
              <a:t> </a:t>
            </a:r>
            <a:r>
              <a:rPr lang="uk-UA" dirty="0" err="1"/>
              <a:t>Toolkit</a:t>
            </a:r>
            <a:r>
              <a:rPr lang="uk-UA" dirty="0"/>
              <a:t> через </a:t>
            </a:r>
            <a:r>
              <a:rPr lang="uk-UA" dirty="0" err="1"/>
              <a:t>слайси</a:t>
            </a:r>
            <a:r>
              <a:rPr lang="uk-UA" dirty="0"/>
              <a:t> з асинхронними </a:t>
            </a:r>
            <a:r>
              <a:rPr lang="uk-UA" dirty="0" err="1"/>
              <a:t>thunks</a:t>
            </a:r>
            <a:r>
              <a:rPr lang="uk-UA" dirty="0"/>
              <a:t>, маршрутизацію — бібліотекою </a:t>
            </a:r>
            <a:r>
              <a:rPr lang="uk-UA" dirty="0" err="1"/>
              <a:t>React</a:t>
            </a:r>
            <a:r>
              <a:rPr lang="uk-UA" dirty="0"/>
              <a:t> </a:t>
            </a:r>
            <a:r>
              <a:rPr lang="uk-UA" dirty="0" err="1"/>
              <a:t>Router</a:t>
            </a:r>
            <a:r>
              <a:rPr lang="uk-UA" dirty="0"/>
              <a:t> із захистом приватних сторінок через компонент </a:t>
            </a:r>
            <a:r>
              <a:rPr lang="uk-UA" dirty="0" err="1"/>
              <a:t>ProtectedRoute</a:t>
            </a:r>
            <a:r>
              <a:rPr lang="uk-UA" dirty="0"/>
              <a:t>. Усі HTTP-запити до серверного REST API виконуються через </a:t>
            </a:r>
            <a:r>
              <a:rPr lang="uk-UA" dirty="0" err="1"/>
              <a:t>Axios</a:t>
            </a:r>
            <a:r>
              <a:rPr lang="uk-UA" dirty="0"/>
              <a:t> з автоматичною підстановкою JWT-токену в заголовок кожного запиту. Обмін повідомленнями в особистих та групових чатах у режимі реального часу реалізовано на бібліотеці @microsoft/signalr поверх протоколу </a:t>
            </a:r>
            <a:r>
              <a:rPr lang="uk-UA" dirty="0" err="1"/>
              <a:t>WebSocket</a:t>
            </a:r>
            <a:r>
              <a:rPr lang="uk-UA" dirty="0"/>
              <a:t> з автоматичним </a:t>
            </a:r>
            <a:r>
              <a:rPr lang="uk-UA" dirty="0" err="1"/>
              <a:t>перепідключенням</a:t>
            </a:r>
            <a:r>
              <a:rPr lang="uk-UA" dirty="0"/>
              <a:t> при тимчасовому розриві мережевого з'єднання, що забезпечує надійність комунікації користувачів.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66937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uk-UA" dirty="0"/>
              <a:t>Тестування клієнтської частини проводилось вручну з 3 травня по 10 червня 2026 року паралельно з розробкою: для кожного ключового модуля розроблено окремий тест-кейс, що покривають автентифікацію, соціальні зв'язки, обмін повідомленнями, групи, події, </a:t>
            </a:r>
            <a:r>
              <a:rPr lang="uk-UA" dirty="0" err="1"/>
              <a:t>челенджі</a:t>
            </a:r>
            <a:r>
              <a:rPr lang="uk-UA" dirty="0"/>
              <a:t> та персональний профіль. Усього розроблено сім тест-кейсів, перевірку виконано у чотирьох браузерах — </a:t>
            </a:r>
            <a:r>
              <a:rPr lang="uk-UA" dirty="0" err="1"/>
              <a:t>Google</a:t>
            </a:r>
            <a:r>
              <a:rPr lang="uk-UA" dirty="0"/>
              <a:t> </a:t>
            </a:r>
            <a:r>
              <a:rPr lang="uk-UA" dirty="0" err="1"/>
              <a:t>Chrome</a:t>
            </a:r>
            <a:r>
              <a:rPr lang="uk-UA" dirty="0"/>
              <a:t>, </a:t>
            </a:r>
            <a:r>
              <a:rPr lang="uk-UA" dirty="0" err="1"/>
              <a:t>Mozilla</a:t>
            </a:r>
            <a:r>
              <a:rPr lang="uk-UA" dirty="0"/>
              <a:t> </a:t>
            </a:r>
            <a:r>
              <a:rPr lang="uk-UA" dirty="0" err="1"/>
              <a:t>Firefox</a:t>
            </a:r>
            <a:r>
              <a:rPr lang="uk-UA" dirty="0"/>
              <a:t>, </a:t>
            </a:r>
            <a:r>
              <a:rPr lang="uk-UA" dirty="0" err="1"/>
              <a:t>Apple</a:t>
            </a:r>
            <a:r>
              <a:rPr lang="uk-UA" dirty="0"/>
              <a:t> </a:t>
            </a:r>
            <a:r>
              <a:rPr lang="uk-UA" dirty="0" err="1"/>
              <a:t>Safari</a:t>
            </a:r>
            <a:r>
              <a:rPr lang="uk-UA" dirty="0"/>
              <a:t> та Microsoft </a:t>
            </a:r>
            <a:r>
              <a:rPr lang="uk-UA" dirty="0" err="1"/>
              <a:t>Edge</a:t>
            </a:r>
            <a:r>
              <a:rPr lang="uk-UA" dirty="0"/>
              <a:t> — як на десктопі, так і на </a:t>
            </a:r>
            <a:r>
              <a:rPr lang="uk-UA" dirty="0" err="1"/>
              <a:t>Android</a:t>
            </a:r>
            <a:r>
              <a:rPr lang="uk-UA" dirty="0"/>
              <a:t>-смартфоні. Усі тест-кейси пройдені успішно з результатом «Пройдено (P)».</a:t>
            </a:r>
          </a:p>
          <a:p>
            <a:pPr marL="114300" indent="0">
              <a:buNone/>
            </a:pPr>
            <a:r>
              <a:rPr lang="uk-UA" dirty="0"/>
              <a:t>Готовий застосунок розгорнуто на хостингу з панеллю керування </a:t>
            </a:r>
            <a:r>
              <a:rPr lang="uk-UA" dirty="0" err="1"/>
              <a:t>ISPmanager</a:t>
            </a:r>
            <a:r>
              <a:rPr lang="uk-UA" dirty="0"/>
              <a:t> і повністю доступний користувачам за </a:t>
            </a:r>
            <a:r>
              <a:rPr lang="uk-UA" dirty="0" err="1"/>
              <a:t>адресою</a:t>
            </a:r>
            <a:r>
              <a:rPr lang="uk-UA" dirty="0"/>
              <a:t> </a:t>
            </a:r>
            <a:r>
              <a:rPr lang="uk-UA" dirty="0">
                <a:hlinkClick r:id="rId3"/>
              </a:rPr>
              <a:t>https://bokado.website/</a:t>
            </a:r>
            <a:r>
              <a:rPr lang="uk-UA" dirty="0"/>
              <a:t> із дійсним SSL-сертифікатом від </a:t>
            </a:r>
            <a:r>
              <a:rPr lang="uk-UA" dirty="0" err="1"/>
              <a:t>Let's</a:t>
            </a:r>
            <a:r>
              <a:rPr lang="uk-UA" dirty="0"/>
              <a:t> </a:t>
            </a:r>
            <a:r>
              <a:rPr lang="uk-UA" dirty="0" err="1"/>
              <a:t>Encrypt</a:t>
            </a:r>
            <a:r>
              <a:rPr lang="uk-UA" dirty="0"/>
              <a:t>. Серверна частина на ASP.NET </a:t>
            </a:r>
            <a:r>
              <a:rPr lang="uk-UA" dirty="0" err="1"/>
              <a:t>Core</a:t>
            </a:r>
            <a:r>
              <a:rPr lang="uk-UA" dirty="0"/>
              <a:t> та база даних </a:t>
            </a:r>
            <a:r>
              <a:rPr lang="uk-UA" dirty="0" err="1"/>
              <a:t>PostgreSQL</a:t>
            </a:r>
            <a:r>
              <a:rPr lang="uk-UA" dirty="0"/>
              <a:t> розгорнуті на платформі </a:t>
            </a:r>
            <a:r>
              <a:rPr lang="uk-UA" dirty="0" err="1"/>
              <a:t>Railway</a:t>
            </a:r>
            <a:r>
              <a:rPr lang="uk-UA" dirty="0"/>
              <a:t>, що забезпечує автоматичне розгортання з </a:t>
            </a:r>
            <a:r>
              <a:rPr lang="uk-UA" dirty="0" err="1"/>
              <a:t>GitHub</a:t>
            </a:r>
            <a:r>
              <a:rPr lang="uk-UA" dirty="0"/>
              <a:t>-репозиторію без необхідності ручного налаштування серверної інфраструктури.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22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87058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268925" y="8947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14300" indent="0">
              <a:buNone/>
            </a:pPr>
            <a:r>
              <a:rPr lang="uk-UA" dirty="0"/>
              <a:t>Завдяки сучасному технологічному стеку та чіткому розмежуванню рівнів архітектури система </a:t>
            </a:r>
            <a:r>
              <a:rPr lang="uk-UA" dirty="0" err="1"/>
              <a:t>Bokado</a:t>
            </a:r>
            <a:r>
              <a:rPr lang="uk-UA" dirty="0"/>
              <a:t> може масштабуватися для обслуговування значно більшої кількості користувачів, а використання реляційної бази даних </a:t>
            </a:r>
            <a:r>
              <a:rPr lang="uk-UA" dirty="0" err="1"/>
              <a:t>PostgreSQL</a:t>
            </a:r>
            <a:r>
              <a:rPr lang="uk-UA" dirty="0"/>
              <a:t> забезпечує надійне зберігання й цілісність інформації. Архітектура клієнт-сервер на основі </a:t>
            </a:r>
            <a:r>
              <a:rPr lang="uk-UA" dirty="0" err="1"/>
              <a:t>RESTful</a:t>
            </a:r>
            <a:r>
              <a:rPr lang="uk-UA" dirty="0"/>
              <a:t> API дозволяє в подальшому легко інтегрувати систему з іншими сервісами — мобільними застосунками, чат-ботами чи аналітичними платформами.</a:t>
            </a:r>
          </a:p>
          <a:p>
            <a:pPr marL="114300" indent="0">
              <a:buNone/>
            </a:pPr>
            <a:endParaRPr lang="uk-UA" dirty="0"/>
          </a:p>
          <a:p>
            <a:pPr marL="114300" indent="0">
              <a:buNone/>
            </a:pPr>
            <a:r>
              <a:rPr lang="uk-UA" dirty="0"/>
              <a:t>Серед напрямів подальшого розвитку проєкту:</a:t>
            </a:r>
          </a:p>
          <a:p>
            <a:r>
              <a:rPr lang="uk-UA" dirty="0"/>
              <a:t>розробка мобільного клієнта на </a:t>
            </a:r>
            <a:r>
              <a:rPr lang="uk-UA" dirty="0" err="1"/>
              <a:t>React</a:t>
            </a:r>
            <a:r>
              <a:rPr lang="uk-UA" dirty="0"/>
              <a:t> </a:t>
            </a:r>
            <a:r>
              <a:rPr lang="uk-UA" dirty="0" err="1"/>
              <a:t>Native</a:t>
            </a:r>
            <a:r>
              <a:rPr lang="uk-UA" dirty="0"/>
              <a:t> для платформ </a:t>
            </a:r>
            <a:r>
              <a:rPr lang="uk-UA" dirty="0" err="1"/>
              <a:t>iOS</a:t>
            </a:r>
            <a:r>
              <a:rPr lang="uk-UA" dirty="0"/>
              <a:t> та </a:t>
            </a:r>
            <a:r>
              <a:rPr lang="uk-UA" dirty="0" err="1"/>
              <a:t>Android</a:t>
            </a:r>
            <a:r>
              <a:rPr lang="uk-UA" dirty="0"/>
              <a:t>;</a:t>
            </a:r>
          </a:p>
          <a:p>
            <a:r>
              <a:rPr lang="uk-UA" dirty="0"/>
              <a:t>інтеграція додаткових способів автентифікації — через </a:t>
            </a:r>
            <a:r>
              <a:rPr lang="uk-UA" dirty="0" err="1"/>
              <a:t>Apple</a:t>
            </a:r>
            <a:r>
              <a:rPr lang="uk-UA" dirty="0"/>
              <a:t> ID та </a:t>
            </a:r>
            <a:r>
              <a:rPr lang="uk-UA" dirty="0" err="1"/>
              <a:t>Facebook</a:t>
            </a:r>
            <a:r>
              <a:rPr lang="uk-UA" dirty="0"/>
              <a:t>;</a:t>
            </a:r>
          </a:p>
          <a:p>
            <a:r>
              <a:rPr lang="uk-UA" dirty="0"/>
              <a:t>локалізація інтерфейсу для розширення цільової аудиторії за межі україномовних користувачів;</a:t>
            </a:r>
          </a:p>
          <a:p>
            <a:r>
              <a:rPr lang="uk-UA" dirty="0"/>
              <a:t>міграція серверної частини з платформи </a:t>
            </a:r>
            <a:r>
              <a:rPr lang="uk-UA" dirty="0" err="1"/>
              <a:t>Railway</a:t>
            </a:r>
            <a:r>
              <a:rPr lang="uk-UA" dirty="0"/>
              <a:t> на промислову хмарну платформу Microsoft </a:t>
            </a:r>
            <a:r>
              <a:rPr lang="uk-UA" dirty="0" err="1"/>
              <a:t>Azure</a:t>
            </a:r>
            <a:r>
              <a:rPr lang="uk-UA" dirty="0"/>
              <a:t> для забезпечення кращої масштабованості та моніторингу продуктивності рівня </a:t>
            </a:r>
            <a:r>
              <a:rPr lang="uk-UA" dirty="0" err="1"/>
              <a:t>enterprise</a:t>
            </a:r>
            <a:r>
              <a:rPr lang="uk-UA" dirty="0"/>
              <a:t>.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23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39438180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(2)</Template>
  <TotalTime>1452</TotalTime>
  <Words>2102</Words>
  <Application>Microsoft Office PowerPoint</Application>
  <PresentationFormat>Экран (16:9)</PresentationFormat>
  <Paragraphs>148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Economica</vt:lpstr>
      <vt:lpstr>Open Sans</vt:lpstr>
      <vt:lpstr>Шаблон презентації кваліфікаційної роботи магістрів</vt:lpstr>
      <vt:lpstr>Веб-додаток для пошуку друзів. Front - end</vt:lpstr>
      <vt:lpstr>Актуальність та мета роботи</vt:lpstr>
      <vt:lpstr>Аналіз проблеми (аналіз існуючих рішень) </vt:lpstr>
      <vt:lpstr>Аналіз проблеми (аналіз існуючих рішень) </vt:lpstr>
      <vt:lpstr>Постановка задачі та опис системи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Архітектура створеного програмного забезпечення</vt:lpstr>
      <vt:lpstr>Архітектура створеного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Приклад реалізації</vt:lpstr>
      <vt:lpstr>Приклад реалізації</vt:lpstr>
      <vt:lpstr>Приклад реалізації</vt:lpstr>
      <vt:lpstr>Приклад реалізації</vt:lpstr>
      <vt:lpstr>Приклад реалізації</vt:lpstr>
      <vt:lpstr>Приклад реалізації</vt:lpstr>
      <vt:lpstr>Підсумки </vt:lpstr>
      <vt:lpstr>Підсумки </vt:lpstr>
      <vt:lpstr>Підсумки </vt:lpstr>
      <vt:lpstr>Підсумки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Веб-додаток для пошуку друзів</dc:title>
  <dc:creator>Анастасія Бистрицька</dc:creator>
  <cp:lastModifiedBy>Анастасія Бистрицька</cp:lastModifiedBy>
  <cp:revision>13</cp:revision>
  <dcterms:created xsi:type="dcterms:W3CDTF">2025-06-22T16:33:19Z</dcterms:created>
  <dcterms:modified xsi:type="dcterms:W3CDTF">2026-06-26T13:54:59Z</dcterms:modified>
</cp:coreProperties>
</file>